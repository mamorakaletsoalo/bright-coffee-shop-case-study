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5.xml" ContentType="application/vnd.openxmlformats-officedocument.themeOverr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6.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Telegraf" panose="020B0604020202020204" charset="0"/>
      <p:regular r:id="rId12"/>
    </p:embeddedFont>
    <p:embeddedFont>
      <p:font typeface="Telegraf Bold"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9" d="100"/>
          <a:sy n="69" d="100"/>
        </p:scale>
        <p:origin x="114"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dk1" tx1="lt1" bg2="dk2" tx2="lt2" accent1="accent1" accent2="accent2" accent3="accent3" accent4="accent4" accent5="accent5" accent6="accent6" hlink="hlink" folHlink="folHlink"/>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kumimoji="0" lang="en-US" sz="1862"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Sales by store Location and Month</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autoTitleDeleted val="0"/>
    <c:plotArea>
      <c:layout/>
      <c:lineChart>
        <c:grouping val="stacked"/>
        <c:varyColors val="0"/>
        <c:ser>
          <c:idx val="0"/>
          <c:order val="0"/>
          <c:tx>
            <c:strRef>
              <c:f>Sheet1!$B$1</c:f>
              <c:strCache>
                <c:ptCount val="1"/>
                <c:pt idx="0">
                  <c:v>Revenue</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Sheet1!$A$2:$A$7</c:f>
              <c:strCache>
                <c:ptCount val="6"/>
                <c:pt idx="0">
                  <c:v>Jan</c:v>
                </c:pt>
                <c:pt idx="1">
                  <c:v>Feb</c:v>
                </c:pt>
                <c:pt idx="2">
                  <c:v>Mar</c:v>
                </c:pt>
                <c:pt idx="3">
                  <c:v>Apr</c:v>
                </c:pt>
                <c:pt idx="4">
                  <c:v>May</c:v>
                </c:pt>
                <c:pt idx="5">
                  <c:v>June</c:v>
                </c:pt>
              </c:strCache>
            </c:strRef>
          </c:cat>
          <c:val>
            <c:numRef>
              <c:f>Sheet1!$B$2:$B$7</c:f>
              <c:numCache>
                <c:formatCode>General</c:formatCode>
                <c:ptCount val="6"/>
                <c:pt idx="0">
                  <c:v>14674</c:v>
                </c:pt>
                <c:pt idx="1">
                  <c:v>13758</c:v>
                </c:pt>
                <c:pt idx="2">
                  <c:v>17432</c:v>
                </c:pt>
                <c:pt idx="3">
                  <c:v>20010</c:v>
                </c:pt>
                <c:pt idx="4">
                  <c:v>24913</c:v>
                </c:pt>
                <c:pt idx="5">
                  <c:v>25512</c:v>
                </c:pt>
              </c:numCache>
            </c:numRef>
          </c:val>
          <c:smooth val="0"/>
          <c:extLst>
            <c:ext xmlns:c16="http://schemas.microsoft.com/office/drawing/2014/chart" uri="{C3380CC4-5D6E-409C-BE32-E72D297353CC}">
              <c16:uniqueId val="{00000000-A6F0-46B9-ABB3-5844F2240F42}"/>
            </c:ext>
          </c:extLst>
        </c:ser>
        <c:dLbls>
          <c:showLegendKey val="0"/>
          <c:showVal val="0"/>
          <c:showCatName val="0"/>
          <c:showSerName val="0"/>
          <c:showPercent val="0"/>
          <c:showBubbleSize val="0"/>
        </c:dLbls>
        <c:marker val="1"/>
        <c:smooth val="0"/>
        <c:axId val="399202192"/>
        <c:axId val="334563000"/>
      </c:lineChart>
      <c:catAx>
        <c:axId val="3992021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crossAx val="334563000"/>
        <c:crosses val="autoZero"/>
        <c:auto val="1"/>
        <c:lblAlgn val="ctr"/>
        <c:lblOffset val="100"/>
        <c:noMultiLvlLbl val="0"/>
      </c:catAx>
      <c:valAx>
        <c:axId val="334563000"/>
        <c:scaling>
          <c:orientation val="minMax"/>
        </c:scaling>
        <c:delete val="0"/>
        <c:axPos val="l"/>
        <c:majorGridlines>
          <c:spPr>
            <a:ln w="9525" cap="flat" cmpd="sng" algn="ctr">
              <a:solidFill>
                <a:schemeClr val="bg2">
                  <a:lumMod val="40000"/>
                  <a:lumOff val="6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crossAx val="3992021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dk1" tx1="lt1" bg2="dk2" tx2="lt2" accent1="accent1" accent2="accent2" accent3="accent3" accent4="accent4" accent5="accent5" accent6="accent6" hlink="hlink" folHlink="folHlink"/>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dirty="0">
                <a:solidFill>
                  <a:schemeClr val="bg1"/>
                </a:solidFill>
                <a:latin typeface="Arial" panose="020B0604020202020204" pitchFamily="34" charset="0"/>
                <a:cs typeface="Arial" panose="020B0604020202020204" pitchFamily="34" charset="0"/>
              </a:rPr>
              <a:t>Sales by</a:t>
            </a:r>
            <a:r>
              <a:rPr lang="en-US" baseline="0" dirty="0">
                <a:solidFill>
                  <a:schemeClr val="bg1"/>
                </a:solidFill>
                <a:latin typeface="Arial" panose="020B0604020202020204" pitchFamily="34" charset="0"/>
                <a:cs typeface="Arial" panose="020B0604020202020204" pitchFamily="34" charset="0"/>
              </a:rPr>
              <a:t> product Category</a:t>
            </a:r>
            <a:endParaRPr lang="en-US" dirty="0">
              <a:solidFill>
                <a:schemeClr val="bg1"/>
              </a:solidFill>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0.16814503432193612"/>
          <c:y val="0.26509470555257525"/>
          <c:w val="0.8041064892725619"/>
          <c:h val="0.60874038414824894"/>
        </c:manualLayout>
      </c:layout>
      <c:barChart>
        <c:barDir val="bar"/>
        <c:grouping val="clustered"/>
        <c:varyColors val="0"/>
        <c:dLbls>
          <c:showLegendKey val="0"/>
          <c:showVal val="0"/>
          <c:showCatName val="0"/>
          <c:showSerName val="0"/>
          <c:showPercent val="0"/>
          <c:showBubbleSize val="0"/>
        </c:dLbls>
        <c:gapWidth val="219"/>
        <c:axId val="82799912"/>
        <c:axId val="82797032"/>
      </c:barChart>
      <c:catAx>
        <c:axId val="82799912"/>
        <c:scaling>
          <c:orientation val="minMax"/>
        </c:scaling>
        <c:delete val="1"/>
        <c:axPos val="l"/>
        <c:title>
          <c:tx>
            <c:rich>
              <a:bodyPr rot="-5400000" spcFirstLastPara="1" vertOverflow="ellipsis" vert="horz" wrap="square" anchor="ctr" anchorCtr="1"/>
              <a:lstStyle/>
              <a:p>
                <a:pPr>
                  <a:defRPr sz="1330" b="0" i="0" u="none" strike="noStrike" kern="1200" baseline="0">
                    <a:solidFill>
                      <a:schemeClr val="bg1"/>
                    </a:solidFill>
                    <a:latin typeface="Arial" panose="020B0604020202020204" pitchFamily="34" charset="0"/>
                    <a:ea typeface="+mn-ea"/>
                    <a:cs typeface="Arial" panose="020B0604020202020204" pitchFamily="34" charset="0"/>
                  </a:defRPr>
                </a:pPr>
                <a:r>
                  <a:rPr lang="en-US" dirty="0">
                    <a:solidFill>
                      <a:schemeClr val="bg1"/>
                    </a:solidFill>
                    <a:latin typeface="Arial" panose="020B0604020202020204" pitchFamily="34" charset="0"/>
                    <a:cs typeface="Arial" panose="020B0604020202020204" pitchFamily="34" charset="0"/>
                  </a:rPr>
                  <a:t>Month</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title>
        <c:numFmt formatCode="General" sourceLinked="1"/>
        <c:majorTickMark val="none"/>
        <c:minorTickMark val="none"/>
        <c:tickLblPos val="nextTo"/>
        <c:crossAx val="82797032"/>
        <c:crosses val="autoZero"/>
        <c:auto val="1"/>
        <c:lblAlgn val="ctr"/>
        <c:lblOffset val="100"/>
        <c:noMultiLvlLbl val="0"/>
      </c:catAx>
      <c:valAx>
        <c:axId val="82797032"/>
        <c:scaling>
          <c:orientation val="minMax"/>
        </c:scaling>
        <c:delete val="0"/>
        <c:axPos val="b"/>
        <c:majorGridlines>
          <c:spPr>
            <a:ln w="9525" cap="flat" cmpd="sng" algn="ctr">
              <a:solidFill>
                <a:schemeClr val="bg2">
                  <a:lumMod val="60000"/>
                  <a:lumOff val="40000"/>
                </a:schemeClr>
              </a:solidFill>
              <a:round/>
            </a:ln>
            <a:effectLst/>
          </c:spPr>
        </c:majorGridlines>
        <c:title>
          <c:tx>
            <c:rich>
              <a:bodyPr rot="0" spcFirstLastPara="1" vertOverflow="ellipsis" vert="horz" wrap="square" anchor="ctr" anchorCtr="1"/>
              <a:lstStyle/>
              <a:p>
                <a:pPr>
                  <a:defRPr sz="1330" b="0" i="0" u="none" strike="noStrike" kern="1200" baseline="0">
                    <a:solidFill>
                      <a:schemeClr val="bg1"/>
                    </a:solidFill>
                    <a:latin typeface="+mn-lt"/>
                    <a:ea typeface="+mn-ea"/>
                    <a:cs typeface="+mn-cs"/>
                  </a:defRPr>
                </a:pPr>
                <a:r>
                  <a:rPr lang="en-US" dirty="0">
                    <a:solidFill>
                      <a:schemeClr val="bg1"/>
                    </a:solidFill>
                  </a:rPr>
                  <a:t>Sales</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crossAx val="82799912"/>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dk1" tx1="lt1" bg2="dk2" tx2="lt2" accent1="accent1" accent2="accent2" accent3="accent3" accent4="accent4" accent5="accent5" accent6="accent6" hlink="hlink" folHlink="folHlink"/>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2400" dirty="0">
                <a:solidFill>
                  <a:schemeClr val="bg1"/>
                </a:solidFill>
                <a:latin typeface="Arial" panose="020B0604020202020204" pitchFamily="34" charset="0"/>
                <a:cs typeface="Arial" panose="020B0604020202020204" pitchFamily="34" charset="0"/>
              </a:rPr>
              <a:t>Quantity</a:t>
            </a:r>
            <a:r>
              <a:rPr lang="en-US" sz="2400" baseline="0" dirty="0">
                <a:solidFill>
                  <a:schemeClr val="bg1"/>
                </a:solidFill>
                <a:latin typeface="Arial" panose="020B0604020202020204" pitchFamily="34" charset="0"/>
                <a:cs typeface="Arial" panose="020B0604020202020204" pitchFamily="34" charset="0"/>
              </a:rPr>
              <a:t> of items sold by product Category</a:t>
            </a:r>
            <a:endParaRPr lang="en-US" sz="2400" dirty="0">
              <a:solidFill>
                <a:schemeClr val="bg1"/>
              </a:solidFill>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Sales</c:v>
                </c:pt>
              </c:strCache>
            </c:strRef>
          </c:tx>
          <c:spPr>
            <a:solidFill>
              <a:schemeClr val="accent1"/>
            </a:solidFill>
            <a:ln>
              <a:noFill/>
            </a:ln>
            <a:effectLst/>
          </c:spPr>
          <c:invertIfNegative val="0"/>
          <c:dLbls>
            <c:delete val="1"/>
          </c:dLbls>
          <c:cat>
            <c:strRef>
              <c:f>Sheet1!$A$2:$A$10</c:f>
              <c:strCache>
                <c:ptCount val="9"/>
                <c:pt idx="0">
                  <c:v>Bakery</c:v>
                </c:pt>
                <c:pt idx="1">
                  <c:v>Branded</c:v>
                </c:pt>
                <c:pt idx="2">
                  <c:v>Coffee</c:v>
                </c:pt>
                <c:pt idx="3">
                  <c:v>Coffee beans</c:v>
                </c:pt>
                <c:pt idx="4">
                  <c:v>Drinking Chocolate</c:v>
                </c:pt>
                <c:pt idx="5">
                  <c:v>Flavours</c:v>
                </c:pt>
                <c:pt idx="6">
                  <c:v>Loose Tea</c:v>
                </c:pt>
                <c:pt idx="7">
                  <c:v>Packaged Chocolate</c:v>
                </c:pt>
                <c:pt idx="8">
                  <c:v>Tea</c:v>
                </c:pt>
              </c:strCache>
            </c:strRef>
          </c:cat>
          <c:val>
            <c:numRef>
              <c:f>Sheet1!$B$2:$B$10</c:f>
              <c:numCache>
                <c:formatCode>0</c:formatCode>
                <c:ptCount val="9"/>
                <c:pt idx="0">
                  <c:v>22796</c:v>
                </c:pt>
                <c:pt idx="1">
                  <c:v>747</c:v>
                </c:pt>
                <c:pt idx="2">
                  <c:v>58416</c:v>
                </c:pt>
                <c:pt idx="3">
                  <c:v>1753</c:v>
                </c:pt>
                <c:pt idx="4">
                  <c:v>11468</c:v>
                </c:pt>
                <c:pt idx="5">
                  <c:v>6790</c:v>
                </c:pt>
                <c:pt idx="6">
                  <c:v>1210</c:v>
                </c:pt>
                <c:pt idx="7">
                  <c:v>487</c:v>
                </c:pt>
                <c:pt idx="8">
                  <c:v>45449</c:v>
                </c:pt>
              </c:numCache>
            </c:numRef>
          </c:val>
          <c:extLst>
            <c:ext xmlns:c16="http://schemas.microsoft.com/office/drawing/2014/chart" uri="{C3380CC4-5D6E-409C-BE32-E72D297353CC}">
              <c16:uniqueId val="{00000000-741B-41FA-AFE7-6B3D50A84C77}"/>
            </c:ext>
          </c:extLst>
        </c:ser>
        <c:dLbls>
          <c:dLblPos val="outEnd"/>
          <c:showLegendKey val="0"/>
          <c:showVal val="1"/>
          <c:showCatName val="0"/>
          <c:showSerName val="0"/>
          <c:showPercent val="0"/>
          <c:showBubbleSize val="0"/>
        </c:dLbls>
        <c:gapWidth val="219"/>
        <c:axId val="82799912"/>
        <c:axId val="82797032"/>
      </c:barChart>
      <c:catAx>
        <c:axId val="82799912"/>
        <c:scaling>
          <c:orientation val="minMax"/>
        </c:scaling>
        <c:delete val="0"/>
        <c:axPos val="l"/>
        <c:title>
          <c:tx>
            <c:rich>
              <a:bodyPr rot="-5400000" spcFirstLastPara="1" vertOverflow="ellipsis" vert="horz" wrap="square" anchor="ctr" anchorCtr="1"/>
              <a:lstStyle/>
              <a:p>
                <a:pPr>
                  <a:defRPr sz="1330" b="0" i="0" u="none" strike="noStrike" kern="1200" baseline="0">
                    <a:solidFill>
                      <a:schemeClr val="bg1"/>
                    </a:solidFill>
                    <a:latin typeface="Arial" panose="020B0604020202020204" pitchFamily="34" charset="0"/>
                    <a:ea typeface="+mn-ea"/>
                    <a:cs typeface="Arial" panose="020B0604020202020204" pitchFamily="34" charset="0"/>
                  </a:defRPr>
                </a:pPr>
                <a:r>
                  <a:rPr lang="en-US" dirty="0">
                    <a:solidFill>
                      <a:schemeClr val="bg1"/>
                    </a:solidFill>
                    <a:latin typeface="Arial" panose="020B0604020202020204" pitchFamily="34" charset="0"/>
                    <a:cs typeface="Arial" panose="020B0604020202020204" pitchFamily="34" charset="0"/>
                  </a:rPr>
                  <a:t>Month</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crossAx val="82797032"/>
        <c:crosses val="autoZero"/>
        <c:auto val="1"/>
        <c:lblAlgn val="ctr"/>
        <c:lblOffset val="100"/>
        <c:noMultiLvlLbl val="0"/>
      </c:catAx>
      <c:valAx>
        <c:axId val="82797032"/>
        <c:scaling>
          <c:orientation val="minMax"/>
        </c:scaling>
        <c:delete val="0"/>
        <c:axPos val="b"/>
        <c:majorGridlines>
          <c:spPr>
            <a:ln w="9525" cap="flat" cmpd="sng" algn="ctr">
              <a:solidFill>
                <a:schemeClr val="bg2">
                  <a:lumMod val="60000"/>
                  <a:lumOff val="40000"/>
                </a:schemeClr>
              </a:solidFill>
              <a:round/>
            </a:ln>
            <a:effectLst/>
          </c:spPr>
        </c:majorGridlines>
        <c:title>
          <c:tx>
            <c:rich>
              <a:bodyPr rot="0" spcFirstLastPara="1" vertOverflow="ellipsis" vert="horz" wrap="square" anchor="ctr" anchorCtr="1"/>
              <a:lstStyle/>
              <a:p>
                <a:pPr>
                  <a:defRPr sz="1330" b="0" i="0" u="none" strike="noStrike" kern="1200" baseline="0">
                    <a:solidFill>
                      <a:schemeClr val="bg1"/>
                    </a:solidFill>
                    <a:latin typeface="Arial" panose="020B0604020202020204" pitchFamily="34" charset="0"/>
                    <a:ea typeface="+mn-ea"/>
                    <a:cs typeface="Arial" panose="020B0604020202020204" pitchFamily="34" charset="0"/>
                  </a:defRPr>
                </a:pPr>
                <a:r>
                  <a:rPr lang="en-US" dirty="0">
                    <a:solidFill>
                      <a:schemeClr val="bg1"/>
                    </a:solidFill>
                    <a:latin typeface="Arial" panose="020B0604020202020204" pitchFamily="34" charset="0"/>
                    <a:cs typeface="Arial" panose="020B0604020202020204" pitchFamily="34" charset="0"/>
                  </a:rPr>
                  <a:t>Sales</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crossAx val="827999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dk1" tx1="lt1" bg2="dk2" tx2="lt2" accent1="accent1" accent2="accent2" accent3="accent3" accent4="accent4" accent5="accent5" accent6="accent6" hlink="hlink" folHlink="folHlink"/>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dirty="0">
                <a:solidFill>
                  <a:schemeClr val="bg1"/>
                </a:solidFill>
                <a:latin typeface="Arial" panose="020B0604020202020204" pitchFamily="34" charset="0"/>
                <a:cs typeface="Arial" panose="020B0604020202020204" pitchFamily="34" charset="0"/>
              </a:rPr>
              <a:t>Sales by store Location and Month</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autoTitleDeleted val="0"/>
    <c:plotArea>
      <c:layout/>
      <c:barChart>
        <c:barDir val="col"/>
        <c:grouping val="clustered"/>
        <c:varyColors val="0"/>
        <c:ser>
          <c:idx val="0"/>
          <c:order val="0"/>
          <c:tx>
            <c:strRef>
              <c:f>Sheet1!$B$1</c:f>
              <c:strCache>
                <c:ptCount val="1"/>
                <c:pt idx="0">
                  <c:v>Astoria</c:v>
                </c:pt>
              </c:strCache>
            </c:strRef>
          </c:tx>
          <c:spPr>
            <a:solidFill>
              <a:schemeClr val="accent1"/>
            </a:solidFill>
            <a:ln>
              <a:noFill/>
            </a:ln>
            <a:effectLst/>
          </c:spPr>
          <c:invertIfNegative val="0"/>
          <c:cat>
            <c:strRef>
              <c:f>Sheet1!$A$2:$A$7</c:f>
              <c:strCache>
                <c:ptCount val="6"/>
                <c:pt idx="0">
                  <c:v>Jan</c:v>
                </c:pt>
                <c:pt idx="1">
                  <c:v>Feb</c:v>
                </c:pt>
                <c:pt idx="2">
                  <c:v>Mar</c:v>
                </c:pt>
                <c:pt idx="3">
                  <c:v>Apr</c:v>
                </c:pt>
                <c:pt idx="4">
                  <c:v>May</c:v>
                </c:pt>
                <c:pt idx="5">
                  <c:v>June</c:v>
                </c:pt>
              </c:strCache>
            </c:strRef>
          </c:cat>
          <c:val>
            <c:numRef>
              <c:f>Sheet1!$B$2:$B$7</c:f>
              <c:numCache>
                <c:formatCode>General</c:formatCode>
                <c:ptCount val="6"/>
                <c:pt idx="0">
                  <c:v>5913</c:v>
                </c:pt>
                <c:pt idx="1">
                  <c:v>5490</c:v>
                </c:pt>
                <c:pt idx="2">
                  <c:v>7180</c:v>
                </c:pt>
                <c:pt idx="3">
                  <c:v>8556</c:v>
                </c:pt>
                <c:pt idx="4">
                  <c:v>11475</c:v>
                </c:pt>
                <c:pt idx="5">
                  <c:v>11985</c:v>
                </c:pt>
              </c:numCache>
            </c:numRef>
          </c:val>
          <c:extLst>
            <c:ext xmlns:c16="http://schemas.microsoft.com/office/drawing/2014/chart" uri="{C3380CC4-5D6E-409C-BE32-E72D297353CC}">
              <c16:uniqueId val="{00000000-1FC2-4B9F-AA35-527014B42563}"/>
            </c:ext>
          </c:extLst>
        </c:ser>
        <c:ser>
          <c:idx val="1"/>
          <c:order val="1"/>
          <c:tx>
            <c:strRef>
              <c:f>Sheet1!$C$1</c:f>
              <c:strCache>
                <c:ptCount val="1"/>
                <c:pt idx="0">
                  <c:v>Hell s Kitchen</c:v>
                </c:pt>
              </c:strCache>
            </c:strRef>
          </c:tx>
          <c:spPr>
            <a:solidFill>
              <a:schemeClr val="accent2"/>
            </a:solidFill>
            <a:ln>
              <a:noFill/>
            </a:ln>
            <a:effectLst/>
          </c:spPr>
          <c:invertIfNegative val="0"/>
          <c:cat>
            <c:strRef>
              <c:f>Sheet1!$A$2:$A$7</c:f>
              <c:strCache>
                <c:ptCount val="6"/>
                <c:pt idx="0">
                  <c:v>Jan</c:v>
                </c:pt>
                <c:pt idx="1">
                  <c:v>Feb</c:v>
                </c:pt>
                <c:pt idx="2">
                  <c:v>Mar</c:v>
                </c:pt>
                <c:pt idx="3">
                  <c:v>Apr</c:v>
                </c:pt>
                <c:pt idx="4">
                  <c:v>May</c:v>
                </c:pt>
                <c:pt idx="5">
                  <c:v>June</c:v>
                </c:pt>
              </c:strCache>
            </c:strRef>
          </c:cat>
          <c:val>
            <c:numRef>
              <c:f>Sheet1!$C$2:$C$7</c:f>
              <c:numCache>
                <c:formatCode>General</c:formatCode>
                <c:ptCount val="6"/>
                <c:pt idx="0">
                  <c:v>5868</c:v>
                </c:pt>
                <c:pt idx="1">
                  <c:v>5606</c:v>
                </c:pt>
                <c:pt idx="2">
                  <c:v>7267</c:v>
                </c:pt>
                <c:pt idx="3">
                  <c:v>8629</c:v>
                </c:pt>
                <c:pt idx="4">
                  <c:v>11294</c:v>
                </c:pt>
                <c:pt idx="5">
                  <c:v>12071</c:v>
                </c:pt>
              </c:numCache>
            </c:numRef>
          </c:val>
          <c:extLst>
            <c:ext xmlns:c16="http://schemas.microsoft.com/office/drawing/2014/chart" uri="{C3380CC4-5D6E-409C-BE32-E72D297353CC}">
              <c16:uniqueId val="{00000001-1FC2-4B9F-AA35-527014B42563}"/>
            </c:ext>
          </c:extLst>
        </c:ser>
        <c:ser>
          <c:idx val="2"/>
          <c:order val="2"/>
          <c:tx>
            <c:strRef>
              <c:f>Sheet1!$D$1</c:f>
              <c:strCache>
                <c:ptCount val="1"/>
                <c:pt idx="0">
                  <c:v>Lower Manhattan</c:v>
                </c:pt>
              </c:strCache>
            </c:strRef>
          </c:tx>
          <c:spPr>
            <a:solidFill>
              <a:schemeClr val="accent3"/>
            </a:solidFill>
            <a:ln>
              <a:noFill/>
            </a:ln>
            <a:effectLst/>
          </c:spPr>
          <c:invertIfNegative val="0"/>
          <c:cat>
            <c:strRef>
              <c:f>Sheet1!$A$2:$A$7</c:f>
              <c:strCache>
                <c:ptCount val="6"/>
                <c:pt idx="0">
                  <c:v>Jan</c:v>
                </c:pt>
                <c:pt idx="1">
                  <c:v>Feb</c:v>
                </c:pt>
                <c:pt idx="2">
                  <c:v>Mar</c:v>
                </c:pt>
                <c:pt idx="3">
                  <c:v>Apr</c:v>
                </c:pt>
                <c:pt idx="4">
                  <c:v>May</c:v>
                </c:pt>
                <c:pt idx="5">
                  <c:v>June</c:v>
                </c:pt>
              </c:strCache>
            </c:strRef>
          </c:cat>
          <c:val>
            <c:numRef>
              <c:f>Sheet1!$D$2:$D$7</c:f>
              <c:numCache>
                <c:formatCode>General</c:formatCode>
                <c:ptCount val="6"/>
                <c:pt idx="0">
                  <c:v>5533</c:v>
                </c:pt>
                <c:pt idx="1">
                  <c:v>5263</c:v>
                </c:pt>
                <c:pt idx="2">
                  <c:v>6782</c:v>
                </c:pt>
                <c:pt idx="3">
                  <c:v>8150</c:v>
                </c:pt>
                <c:pt idx="4">
                  <c:v>10758</c:v>
                </c:pt>
                <c:pt idx="5">
                  <c:v>11296</c:v>
                </c:pt>
              </c:numCache>
            </c:numRef>
          </c:val>
          <c:extLst>
            <c:ext xmlns:c16="http://schemas.microsoft.com/office/drawing/2014/chart" uri="{C3380CC4-5D6E-409C-BE32-E72D297353CC}">
              <c16:uniqueId val="{00000002-1FC2-4B9F-AA35-527014B42563}"/>
            </c:ext>
          </c:extLst>
        </c:ser>
        <c:dLbls>
          <c:showLegendKey val="0"/>
          <c:showVal val="0"/>
          <c:showCatName val="0"/>
          <c:showSerName val="0"/>
          <c:showPercent val="0"/>
          <c:showBubbleSize val="0"/>
        </c:dLbls>
        <c:gapWidth val="219"/>
        <c:overlap val="-27"/>
        <c:axId val="82799912"/>
        <c:axId val="82797032"/>
      </c:barChart>
      <c:catAx>
        <c:axId val="82799912"/>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bg1"/>
                    </a:solidFill>
                    <a:latin typeface="+mn-lt"/>
                    <a:ea typeface="+mn-ea"/>
                    <a:cs typeface="+mn-cs"/>
                  </a:defRPr>
                </a:pPr>
                <a:r>
                  <a:rPr lang="en-US" dirty="0">
                    <a:solidFill>
                      <a:schemeClr val="bg1"/>
                    </a:solidFill>
                  </a:rPr>
                  <a:t>Month</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bg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crossAx val="82797032"/>
        <c:crosses val="autoZero"/>
        <c:auto val="1"/>
        <c:lblAlgn val="ctr"/>
        <c:lblOffset val="100"/>
        <c:noMultiLvlLbl val="0"/>
      </c:catAx>
      <c:valAx>
        <c:axId val="82797032"/>
        <c:scaling>
          <c:orientation val="minMax"/>
        </c:scaling>
        <c:delete val="0"/>
        <c:axPos val="l"/>
        <c:majorGridlines>
          <c:spPr>
            <a:ln w="9525" cap="flat" cmpd="sng" algn="ctr">
              <a:solidFill>
                <a:schemeClr val="bg2">
                  <a:lumMod val="60000"/>
                  <a:lumOff val="40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bg1"/>
                    </a:solidFill>
                    <a:latin typeface="Arial" panose="020B0604020202020204" pitchFamily="34" charset="0"/>
                    <a:ea typeface="+mn-ea"/>
                    <a:cs typeface="Arial" panose="020B0604020202020204" pitchFamily="34" charset="0"/>
                  </a:defRPr>
                </a:pPr>
                <a:r>
                  <a:rPr lang="en-US" dirty="0">
                    <a:solidFill>
                      <a:schemeClr val="bg1"/>
                    </a:solidFill>
                    <a:latin typeface="Arial" panose="020B0604020202020204" pitchFamily="34" charset="0"/>
                    <a:cs typeface="Arial" panose="020B0604020202020204" pitchFamily="34" charset="0"/>
                  </a:rPr>
                  <a:t>Sales</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crossAx val="827999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dk1" tx1="lt1" bg2="dk2" tx2="lt2" accent1="accent1" accent2="accent2" accent3="accent3" accent4="accent4" accent5="accent5" accent6="accent6" hlink="hlink" folHlink="folHlink"/>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dirty="0">
                <a:solidFill>
                  <a:schemeClr val="bg1"/>
                </a:solidFill>
                <a:latin typeface="Arial" panose="020B0604020202020204" pitchFamily="34" charset="0"/>
                <a:cs typeface="Arial" panose="020B0604020202020204" pitchFamily="34" charset="0"/>
              </a:rPr>
              <a:t>Sales percentage</a:t>
            </a:r>
            <a:r>
              <a:rPr lang="en-US" baseline="0" dirty="0">
                <a:solidFill>
                  <a:schemeClr val="bg1"/>
                </a:solidFill>
                <a:latin typeface="Arial" panose="020B0604020202020204" pitchFamily="34" charset="0"/>
                <a:cs typeface="Arial" panose="020B0604020202020204" pitchFamily="34" charset="0"/>
              </a:rPr>
              <a:t> by time bucket</a:t>
            </a:r>
            <a:endParaRPr lang="en-US" dirty="0">
              <a:solidFill>
                <a:schemeClr val="bg1"/>
              </a:solidFill>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autoTitleDeleted val="0"/>
    <c:plotArea>
      <c:layout/>
      <c:pieChart>
        <c:varyColors val="1"/>
        <c:ser>
          <c:idx val="0"/>
          <c:order val="0"/>
          <c:tx>
            <c:strRef>
              <c:f>Sheet1!$B$1</c:f>
              <c:strCache>
                <c:ptCount val="1"/>
                <c:pt idx="0">
                  <c:v>sales</c:v>
                </c:pt>
              </c:strCache>
            </c:strRef>
          </c:tx>
          <c:dPt>
            <c:idx val="0"/>
            <c:bubble3D val="0"/>
            <c:spPr>
              <a:solidFill>
                <a:schemeClr val="accent1"/>
              </a:solidFill>
              <a:ln>
                <a:noFill/>
              </a:ln>
              <a:effectLst/>
            </c:spPr>
            <c:extLst>
              <c:ext xmlns:c16="http://schemas.microsoft.com/office/drawing/2014/chart" uri="{C3380CC4-5D6E-409C-BE32-E72D297353CC}">
                <c16:uniqueId val="{00000001-343C-4091-9D3F-4181F7A7E6F2}"/>
              </c:ext>
            </c:extLst>
          </c:dPt>
          <c:dPt>
            <c:idx val="1"/>
            <c:bubble3D val="0"/>
            <c:spPr>
              <a:solidFill>
                <a:schemeClr val="accent2"/>
              </a:solidFill>
              <a:ln>
                <a:noFill/>
              </a:ln>
              <a:effectLst/>
            </c:spPr>
            <c:extLst>
              <c:ext xmlns:c16="http://schemas.microsoft.com/office/drawing/2014/chart" uri="{C3380CC4-5D6E-409C-BE32-E72D297353CC}">
                <c16:uniqueId val="{00000003-343C-4091-9D3F-4181F7A7E6F2}"/>
              </c:ext>
            </c:extLst>
          </c:dPt>
          <c:dPt>
            <c:idx val="2"/>
            <c:bubble3D val="0"/>
            <c:spPr>
              <a:solidFill>
                <a:schemeClr val="accent3"/>
              </a:solidFill>
              <a:ln>
                <a:noFill/>
              </a:ln>
              <a:effectLst/>
            </c:spPr>
            <c:extLst>
              <c:ext xmlns:c16="http://schemas.microsoft.com/office/drawing/2014/chart" uri="{C3380CC4-5D6E-409C-BE32-E72D297353CC}">
                <c16:uniqueId val="{00000005-343C-4091-9D3F-4181F7A7E6F2}"/>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Morning</c:v>
                </c:pt>
                <c:pt idx="1">
                  <c:v>Evining</c:v>
                </c:pt>
                <c:pt idx="2">
                  <c:v>Afternoon</c:v>
                </c:pt>
              </c:strCache>
            </c:strRef>
          </c:cat>
          <c:val>
            <c:numRef>
              <c:f>Sheet1!$B$2:$B$4</c:f>
              <c:numCache>
                <c:formatCode>0.00%</c:formatCode>
                <c:ptCount val="3"/>
                <c:pt idx="0">
                  <c:v>0.2979</c:v>
                </c:pt>
                <c:pt idx="1">
                  <c:v>0.15379999999999999</c:v>
                </c:pt>
                <c:pt idx="2">
                  <c:v>0.54820000000000002</c:v>
                </c:pt>
              </c:numCache>
            </c:numRef>
          </c:val>
          <c:extLst>
            <c:ext xmlns:c16="http://schemas.microsoft.com/office/drawing/2014/chart" uri="{C3380CC4-5D6E-409C-BE32-E72D297353CC}">
              <c16:uniqueId val="{00000006-343C-4091-9D3F-4181F7A7E6F2}"/>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pPr>
      <a:endParaRPr lang="en-US"/>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dk1" tx1="lt1" bg2="dk2" tx2="lt2" accent1="accent1" accent2="accent2" accent3="accent3" accent4="accent4" accent5="accent5" accent6="accent6" hlink="hlink" folHlink="folHlink"/>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dirty="0">
                <a:solidFill>
                  <a:schemeClr val="bg1"/>
                </a:solidFill>
                <a:latin typeface="Arial" panose="020B0604020202020204" pitchFamily="34" charset="0"/>
                <a:cs typeface="Arial" panose="020B0604020202020204" pitchFamily="34" charset="0"/>
              </a:rPr>
              <a:t>Total sales per day</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autoTitleDeleted val="0"/>
    <c:plotArea>
      <c:layout/>
      <c:barChart>
        <c:barDir val="col"/>
        <c:grouping val="clustered"/>
        <c:varyColors val="0"/>
        <c:ser>
          <c:idx val="0"/>
          <c:order val="0"/>
          <c:tx>
            <c:strRef>
              <c:f>Sheet1!$B$1</c:f>
              <c:strCache>
                <c:ptCount val="1"/>
                <c:pt idx="0">
                  <c:v>Sales</c:v>
                </c:pt>
              </c:strCache>
            </c:strRef>
          </c:tx>
          <c:spPr>
            <a:solidFill>
              <a:schemeClr val="accent1"/>
            </a:solidFill>
            <a:ln>
              <a:noFill/>
            </a:ln>
            <a:effectLst/>
          </c:spPr>
          <c:invertIfNegative val="0"/>
          <c:cat>
            <c:strRef>
              <c:f>Sheet1!$A$2:$A$8</c:f>
              <c:strCache>
                <c:ptCount val="7"/>
                <c:pt idx="0">
                  <c:v>Sun</c:v>
                </c:pt>
                <c:pt idx="1">
                  <c:v>Mon</c:v>
                </c:pt>
                <c:pt idx="2">
                  <c:v>Tue</c:v>
                </c:pt>
                <c:pt idx="3">
                  <c:v>Wed</c:v>
                </c:pt>
                <c:pt idx="4">
                  <c:v>Thu</c:v>
                </c:pt>
                <c:pt idx="5">
                  <c:v>Fri</c:v>
                </c:pt>
                <c:pt idx="6">
                  <c:v>Sat</c:v>
                </c:pt>
              </c:strCache>
            </c:strRef>
          </c:cat>
          <c:val>
            <c:numRef>
              <c:f>Sheet1!$B$2:$B$8</c:f>
              <c:numCache>
                <c:formatCode>General</c:formatCode>
                <c:ptCount val="7"/>
                <c:pt idx="0">
                  <c:v>21096</c:v>
                </c:pt>
                <c:pt idx="1">
                  <c:v>21643</c:v>
                </c:pt>
                <c:pt idx="2">
                  <c:v>21202</c:v>
                </c:pt>
                <c:pt idx="3">
                  <c:v>21310</c:v>
                </c:pt>
                <c:pt idx="4">
                  <c:v>21654</c:v>
                </c:pt>
                <c:pt idx="5">
                  <c:v>21701</c:v>
                </c:pt>
                <c:pt idx="6">
                  <c:v>20510</c:v>
                </c:pt>
              </c:numCache>
            </c:numRef>
          </c:val>
          <c:extLst>
            <c:ext xmlns:c16="http://schemas.microsoft.com/office/drawing/2014/chart" uri="{C3380CC4-5D6E-409C-BE32-E72D297353CC}">
              <c16:uniqueId val="{00000000-0643-4C37-8327-8972F959C59A}"/>
            </c:ext>
          </c:extLst>
        </c:ser>
        <c:dLbls>
          <c:showLegendKey val="0"/>
          <c:showVal val="0"/>
          <c:showCatName val="0"/>
          <c:showSerName val="0"/>
          <c:showPercent val="0"/>
          <c:showBubbleSize val="0"/>
        </c:dLbls>
        <c:gapWidth val="219"/>
        <c:overlap val="-27"/>
        <c:axId val="82799912"/>
        <c:axId val="82797032"/>
      </c:barChart>
      <c:catAx>
        <c:axId val="82799912"/>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bg1"/>
                    </a:solidFill>
                    <a:latin typeface="Arial" panose="020B0604020202020204" pitchFamily="34" charset="0"/>
                    <a:ea typeface="+mn-ea"/>
                    <a:cs typeface="Arial" panose="020B0604020202020204" pitchFamily="34" charset="0"/>
                  </a:defRPr>
                </a:pPr>
                <a:r>
                  <a:rPr lang="en-US" dirty="0">
                    <a:solidFill>
                      <a:schemeClr val="bg1"/>
                    </a:solidFill>
                    <a:latin typeface="Arial" panose="020B0604020202020204" pitchFamily="34" charset="0"/>
                    <a:cs typeface="Arial" panose="020B0604020202020204" pitchFamily="34" charset="0"/>
                  </a:rPr>
                  <a:t>Month</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crossAx val="82797032"/>
        <c:crosses val="autoZero"/>
        <c:auto val="1"/>
        <c:lblAlgn val="ctr"/>
        <c:lblOffset val="100"/>
        <c:noMultiLvlLbl val="0"/>
      </c:catAx>
      <c:valAx>
        <c:axId val="82797032"/>
        <c:scaling>
          <c:orientation val="minMax"/>
        </c:scaling>
        <c:delete val="0"/>
        <c:axPos val="l"/>
        <c:majorGridlines>
          <c:spPr>
            <a:ln w="9525" cap="flat" cmpd="sng" algn="ctr">
              <a:solidFill>
                <a:schemeClr val="bg2">
                  <a:lumMod val="60000"/>
                  <a:lumOff val="40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bg1"/>
                    </a:solidFill>
                    <a:latin typeface="Arial" panose="020B0604020202020204" pitchFamily="34" charset="0"/>
                    <a:ea typeface="+mn-ea"/>
                    <a:cs typeface="Arial" panose="020B0604020202020204" pitchFamily="34" charset="0"/>
                  </a:defRPr>
                </a:pPr>
                <a:r>
                  <a:rPr lang="en-US" dirty="0">
                    <a:solidFill>
                      <a:schemeClr val="bg1"/>
                    </a:solidFill>
                    <a:latin typeface="Arial" panose="020B0604020202020204" pitchFamily="34" charset="0"/>
                    <a:cs typeface="Arial" panose="020B0604020202020204" pitchFamily="34" charset="0"/>
                  </a:rPr>
                  <a:t>Sales</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crossAx val="8279991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3238500" cy="10287000"/>
            <a:chOff x="0" y="0"/>
            <a:chExt cx="852938" cy="2709333"/>
          </a:xfrm>
        </p:grpSpPr>
        <p:sp>
          <p:nvSpPr>
            <p:cNvPr id="3" name="Freeform 3"/>
            <p:cNvSpPr/>
            <p:nvPr/>
          </p:nvSpPr>
          <p:spPr>
            <a:xfrm>
              <a:off x="0" y="0"/>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6B4F3C"/>
            </a:solidFill>
          </p:spPr>
        </p:sp>
        <p:sp>
          <p:nvSpPr>
            <p:cNvPr id="4" name="TextBox 4"/>
            <p:cNvSpPr txBox="1"/>
            <p:nvPr/>
          </p:nvSpPr>
          <p:spPr>
            <a:xfrm>
              <a:off x="0" y="-76200"/>
              <a:ext cx="852938" cy="2785533"/>
            </a:xfrm>
            <a:prstGeom prst="rect">
              <a:avLst/>
            </a:prstGeom>
          </p:spPr>
          <p:txBody>
            <a:bodyPr lIns="50800" tIns="50800" rIns="50800" bIns="50800" rtlCol="0" anchor="ctr"/>
            <a:lstStyle/>
            <a:p>
              <a:pPr marL="0" lvl="0" indent="0" algn="ctr">
                <a:lnSpc>
                  <a:spcPts val="2800"/>
                </a:lnSpc>
              </a:pPr>
              <a:endParaRPr/>
            </a:p>
          </p:txBody>
        </p:sp>
      </p:grpSp>
      <p:grpSp>
        <p:nvGrpSpPr>
          <p:cNvPr id="5" name="Group 5"/>
          <p:cNvGrpSpPr/>
          <p:nvPr/>
        </p:nvGrpSpPr>
        <p:grpSpPr>
          <a:xfrm>
            <a:off x="666750" y="666750"/>
            <a:ext cx="7191375" cy="8953500"/>
            <a:chOff x="0" y="0"/>
            <a:chExt cx="928643" cy="1156192"/>
          </a:xfrm>
        </p:grpSpPr>
        <p:sp>
          <p:nvSpPr>
            <p:cNvPr id="6" name="Freeform 6"/>
            <p:cNvSpPr/>
            <p:nvPr/>
          </p:nvSpPr>
          <p:spPr>
            <a:xfrm>
              <a:off x="0" y="0"/>
              <a:ext cx="928643" cy="1156192"/>
            </a:xfrm>
            <a:custGeom>
              <a:avLst/>
              <a:gdLst/>
              <a:ahLst/>
              <a:cxnLst/>
              <a:rect l="l" t="t" r="r" b="b"/>
              <a:pathLst>
                <a:path w="928643" h="1156192">
                  <a:moveTo>
                    <a:pt x="37679" y="0"/>
                  </a:moveTo>
                  <a:lnTo>
                    <a:pt x="890964" y="0"/>
                  </a:lnTo>
                  <a:cubicBezTo>
                    <a:pt x="900957" y="0"/>
                    <a:pt x="910541" y="3970"/>
                    <a:pt x="917607" y="11036"/>
                  </a:cubicBezTo>
                  <a:cubicBezTo>
                    <a:pt x="924673" y="18102"/>
                    <a:pt x="928643" y="27686"/>
                    <a:pt x="928643" y="37679"/>
                  </a:cubicBezTo>
                  <a:lnTo>
                    <a:pt x="928643" y="1118512"/>
                  </a:lnTo>
                  <a:cubicBezTo>
                    <a:pt x="928643" y="1139322"/>
                    <a:pt x="911774" y="1156192"/>
                    <a:pt x="890964" y="1156192"/>
                  </a:cubicBezTo>
                  <a:lnTo>
                    <a:pt x="37679" y="1156192"/>
                  </a:lnTo>
                  <a:cubicBezTo>
                    <a:pt x="16870" y="1156192"/>
                    <a:pt x="0" y="1139322"/>
                    <a:pt x="0" y="1118512"/>
                  </a:cubicBezTo>
                  <a:lnTo>
                    <a:pt x="0" y="37679"/>
                  </a:lnTo>
                  <a:cubicBezTo>
                    <a:pt x="0" y="16870"/>
                    <a:pt x="16870" y="0"/>
                    <a:pt x="37679" y="0"/>
                  </a:cubicBezTo>
                  <a:close/>
                </a:path>
              </a:pathLst>
            </a:custGeom>
            <a:blipFill>
              <a:blip r:embed="rId2"/>
              <a:stretch>
                <a:fillRect t="-199" b="-199"/>
              </a:stretch>
            </a:blipFill>
            <a:ln cap="rnd">
              <a:noFill/>
              <a:prstDash val="solid"/>
              <a:round/>
            </a:ln>
          </p:spPr>
        </p:sp>
      </p:grpSp>
      <p:grpSp>
        <p:nvGrpSpPr>
          <p:cNvPr id="7" name="Group 7"/>
          <p:cNvGrpSpPr/>
          <p:nvPr/>
        </p:nvGrpSpPr>
        <p:grpSpPr>
          <a:xfrm>
            <a:off x="9296400" y="666750"/>
            <a:ext cx="8324850" cy="4781550"/>
            <a:chOff x="0" y="0"/>
            <a:chExt cx="11099800" cy="6375400"/>
          </a:xfrm>
        </p:grpSpPr>
        <p:sp>
          <p:nvSpPr>
            <p:cNvPr id="8" name="TextBox 8"/>
            <p:cNvSpPr txBox="1"/>
            <p:nvPr/>
          </p:nvSpPr>
          <p:spPr>
            <a:xfrm>
              <a:off x="0" y="1174750"/>
              <a:ext cx="11099800" cy="5200650"/>
            </a:xfrm>
            <a:prstGeom prst="rect">
              <a:avLst/>
            </a:prstGeom>
          </p:spPr>
          <p:txBody>
            <a:bodyPr lIns="0" tIns="0" rIns="0" bIns="0" rtlCol="0" anchor="t">
              <a:spAutoFit/>
            </a:bodyPr>
            <a:lstStyle/>
            <a:p>
              <a:pPr marL="0" lvl="0" indent="0" algn="l">
                <a:lnSpc>
                  <a:spcPts val="9900"/>
                </a:lnSpc>
              </a:pPr>
              <a:r>
                <a:rPr lang="en-US" sz="9000" b="1" spc="-89" dirty="0">
                  <a:solidFill>
                    <a:srgbClr val="6B4F3C"/>
                  </a:solidFill>
                  <a:latin typeface="Telegraf Bold"/>
                  <a:ea typeface="Telegraf Bold"/>
                  <a:cs typeface="Telegraf Bold"/>
                  <a:sym typeface="Telegraf Bold"/>
                </a:rPr>
                <a:t>Business sales Performance Analysis</a:t>
              </a:r>
            </a:p>
          </p:txBody>
        </p:sp>
        <p:sp>
          <p:nvSpPr>
            <p:cNvPr id="9" name="TextBox 9"/>
            <p:cNvSpPr txBox="1"/>
            <p:nvPr/>
          </p:nvSpPr>
          <p:spPr>
            <a:xfrm>
              <a:off x="0" y="-9525"/>
              <a:ext cx="11099800" cy="606425"/>
            </a:xfrm>
            <a:prstGeom prst="rect">
              <a:avLst/>
            </a:prstGeom>
          </p:spPr>
          <p:txBody>
            <a:bodyPr lIns="0" tIns="0" rIns="0" bIns="0" rtlCol="0" anchor="t">
              <a:spAutoFit/>
            </a:bodyPr>
            <a:lstStyle/>
            <a:p>
              <a:pPr marL="0" lvl="0" indent="0" algn="l">
                <a:lnSpc>
                  <a:spcPts val="3299"/>
                </a:lnSpc>
              </a:pPr>
              <a:r>
                <a:rPr lang="en-US" sz="2999" b="1" spc="-29">
                  <a:solidFill>
                    <a:srgbClr val="6B4F3C"/>
                  </a:solidFill>
                  <a:latin typeface="Telegraf Bold"/>
                  <a:ea typeface="Telegraf Bold"/>
                  <a:cs typeface="Telegraf Bold"/>
                  <a:sym typeface="Telegraf Bold"/>
                </a:rPr>
                <a:t>Bright coffee Shop </a:t>
              </a:r>
            </a:p>
          </p:txBody>
        </p:sp>
      </p:grpSp>
      <p:sp>
        <p:nvSpPr>
          <p:cNvPr id="10" name="TextBox 10"/>
          <p:cNvSpPr txBox="1"/>
          <p:nvPr/>
        </p:nvSpPr>
        <p:spPr>
          <a:xfrm>
            <a:off x="9296400" y="9144000"/>
            <a:ext cx="8324850" cy="476250"/>
          </a:xfrm>
          <a:prstGeom prst="rect">
            <a:avLst/>
          </a:prstGeom>
        </p:spPr>
        <p:txBody>
          <a:bodyPr lIns="0" tIns="0" rIns="0" bIns="0" rtlCol="0" anchor="t">
            <a:spAutoFit/>
          </a:bodyPr>
          <a:lstStyle/>
          <a:p>
            <a:pPr marL="0" lvl="0" indent="0" algn="l">
              <a:lnSpc>
                <a:spcPts val="3300"/>
              </a:lnSpc>
            </a:pPr>
            <a:r>
              <a:rPr lang="en-US" sz="3000" spc="-30">
                <a:solidFill>
                  <a:srgbClr val="404040"/>
                </a:solidFill>
                <a:latin typeface="Telegraf"/>
                <a:ea typeface="Telegraf"/>
                <a:cs typeface="Telegraf"/>
                <a:sym typeface="Telegraf"/>
              </a:rPr>
              <a:t>Presented by [Mamoraka Letsoalo]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3F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3238500" cy="10287000"/>
            <a:chOff x="0" y="0"/>
            <a:chExt cx="852938" cy="2709333"/>
          </a:xfrm>
        </p:grpSpPr>
        <p:sp>
          <p:nvSpPr>
            <p:cNvPr id="3" name="Freeform 3"/>
            <p:cNvSpPr/>
            <p:nvPr/>
          </p:nvSpPr>
          <p:spPr>
            <a:xfrm>
              <a:off x="0" y="0"/>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B0885F"/>
            </a:solidFill>
          </p:spPr>
        </p:sp>
        <p:sp>
          <p:nvSpPr>
            <p:cNvPr id="4" name="TextBox 4"/>
            <p:cNvSpPr txBox="1"/>
            <p:nvPr/>
          </p:nvSpPr>
          <p:spPr>
            <a:xfrm>
              <a:off x="0" y="-76200"/>
              <a:ext cx="852938" cy="2785533"/>
            </a:xfrm>
            <a:prstGeom prst="rect">
              <a:avLst/>
            </a:prstGeom>
          </p:spPr>
          <p:txBody>
            <a:bodyPr lIns="50800" tIns="50800" rIns="50800" bIns="50800" rtlCol="0" anchor="ctr"/>
            <a:lstStyle/>
            <a:p>
              <a:pPr marL="0" lvl="0" indent="0" algn="ctr">
                <a:lnSpc>
                  <a:spcPts val="2800"/>
                </a:lnSpc>
              </a:pPr>
              <a:endParaRPr/>
            </a:p>
          </p:txBody>
        </p:sp>
      </p:grpSp>
      <p:grpSp>
        <p:nvGrpSpPr>
          <p:cNvPr id="5" name="Group 5"/>
          <p:cNvGrpSpPr/>
          <p:nvPr/>
        </p:nvGrpSpPr>
        <p:grpSpPr>
          <a:xfrm>
            <a:off x="666750" y="666750"/>
            <a:ext cx="6886575" cy="8058150"/>
            <a:chOff x="0" y="0"/>
            <a:chExt cx="813829" cy="952281"/>
          </a:xfrm>
        </p:grpSpPr>
        <p:sp>
          <p:nvSpPr>
            <p:cNvPr id="6" name="Freeform 6"/>
            <p:cNvSpPr/>
            <p:nvPr/>
          </p:nvSpPr>
          <p:spPr>
            <a:xfrm>
              <a:off x="0" y="0"/>
              <a:ext cx="813829" cy="952281"/>
            </a:xfrm>
            <a:custGeom>
              <a:avLst/>
              <a:gdLst/>
              <a:ahLst/>
              <a:cxnLst/>
              <a:rect l="l" t="t" r="r" b="b"/>
              <a:pathLst>
                <a:path w="813829" h="952281">
                  <a:moveTo>
                    <a:pt x="39347" y="0"/>
                  </a:moveTo>
                  <a:lnTo>
                    <a:pt x="774482" y="0"/>
                  </a:lnTo>
                  <a:cubicBezTo>
                    <a:pt x="796213" y="0"/>
                    <a:pt x="813829" y="17616"/>
                    <a:pt x="813829" y="39347"/>
                  </a:cubicBezTo>
                  <a:lnTo>
                    <a:pt x="813829" y="912934"/>
                  </a:lnTo>
                  <a:cubicBezTo>
                    <a:pt x="813829" y="934665"/>
                    <a:pt x="796213" y="952281"/>
                    <a:pt x="774482" y="952281"/>
                  </a:cubicBezTo>
                  <a:lnTo>
                    <a:pt x="39347" y="952281"/>
                  </a:lnTo>
                  <a:cubicBezTo>
                    <a:pt x="17616" y="952281"/>
                    <a:pt x="0" y="934665"/>
                    <a:pt x="0" y="912934"/>
                  </a:cubicBezTo>
                  <a:lnTo>
                    <a:pt x="0" y="39347"/>
                  </a:lnTo>
                  <a:cubicBezTo>
                    <a:pt x="0" y="17616"/>
                    <a:pt x="17616" y="0"/>
                    <a:pt x="39347" y="0"/>
                  </a:cubicBezTo>
                  <a:close/>
                </a:path>
              </a:pathLst>
            </a:custGeom>
            <a:blipFill>
              <a:blip r:embed="rId2"/>
              <a:stretch>
                <a:fillRect t="-197" b="-197"/>
              </a:stretch>
            </a:blipFill>
          </p:spPr>
        </p:sp>
      </p:grpSp>
      <p:grpSp>
        <p:nvGrpSpPr>
          <p:cNvPr id="7" name="Group 7"/>
          <p:cNvGrpSpPr/>
          <p:nvPr/>
        </p:nvGrpSpPr>
        <p:grpSpPr>
          <a:xfrm>
            <a:off x="9296400" y="659606"/>
            <a:ext cx="8324850" cy="5407775"/>
            <a:chOff x="0" y="-9525"/>
            <a:chExt cx="11099800" cy="7210367"/>
          </a:xfrm>
        </p:grpSpPr>
        <p:sp>
          <p:nvSpPr>
            <p:cNvPr id="8" name="TextBox 8"/>
            <p:cNvSpPr txBox="1"/>
            <p:nvPr/>
          </p:nvSpPr>
          <p:spPr>
            <a:xfrm>
              <a:off x="0" y="4357670"/>
              <a:ext cx="11099800" cy="2843172"/>
            </a:xfrm>
            <a:prstGeom prst="rect">
              <a:avLst/>
            </a:prstGeom>
          </p:spPr>
          <p:txBody>
            <a:bodyPr lIns="0" tIns="0" rIns="0" bIns="0" rtlCol="0" anchor="t">
              <a:spAutoFit/>
            </a:bodyPr>
            <a:lstStyle/>
            <a:p>
              <a:pPr marL="0" lvl="0" indent="0" algn="l">
                <a:lnSpc>
                  <a:spcPts val="2800"/>
                </a:lnSpc>
              </a:pPr>
              <a:r>
                <a:rPr lang="en-US" sz="2000" spc="-20" dirty="0">
                  <a:solidFill>
                    <a:srgbClr val="404040"/>
                  </a:solidFill>
                  <a:latin typeface="Telegraf"/>
                  <a:ea typeface="Telegraf"/>
                  <a:cs typeface="Telegraf"/>
                  <a:sym typeface="Telegraf"/>
                </a:rPr>
                <a:t>Bright coffee has three store locations ,and they offer a variety of coffees and teas with complementary pastry products. This business case  seeks to use historical transactional data  to identify revenue trends, top-performing products, and peak sales periods  to ultimately guiding data-driven strategic decisions to increase profitability and customer, and recommend actionable strategies.</a:t>
              </a:r>
            </a:p>
          </p:txBody>
        </p:sp>
        <p:sp>
          <p:nvSpPr>
            <p:cNvPr id="9" name="TextBox 9"/>
            <p:cNvSpPr txBox="1"/>
            <p:nvPr/>
          </p:nvSpPr>
          <p:spPr>
            <a:xfrm>
              <a:off x="0" y="3562350"/>
              <a:ext cx="11099800" cy="628650"/>
            </a:xfrm>
            <a:prstGeom prst="rect">
              <a:avLst/>
            </a:prstGeom>
          </p:spPr>
          <p:txBody>
            <a:bodyPr lIns="0" tIns="0" rIns="0" bIns="0" rtlCol="0" anchor="t">
              <a:spAutoFit/>
            </a:bodyPr>
            <a:lstStyle/>
            <a:p>
              <a:pPr marL="0" lvl="0" indent="0" algn="l">
                <a:lnSpc>
                  <a:spcPts val="3300"/>
                </a:lnSpc>
              </a:pPr>
              <a:r>
                <a:rPr lang="en-US" sz="3000" b="1" spc="-30">
                  <a:solidFill>
                    <a:srgbClr val="6B4F3C"/>
                  </a:solidFill>
                  <a:latin typeface="Telegraf Bold"/>
                  <a:ea typeface="Telegraf Bold"/>
                  <a:cs typeface="Telegraf Bold"/>
                  <a:sym typeface="Telegraf Bold"/>
                </a:rPr>
                <a:t>Insights into business performance</a:t>
              </a:r>
            </a:p>
          </p:txBody>
        </p:sp>
        <p:sp>
          <p:nvSpPr>
            <p:cNvPr id="10" name="TextBox 10"/>
            <p:cNvSpPr txBox="1"/>
            <p:nvPr/>
          </p:nvSpPr>
          <p:spPr>
            <a:xfrm>
              <a:off x="0" y="-9525"/>
              <a:ext cx="11099800" cy="2633200"/>
            </a:xfrm>
            <a:prstGeom prst="rect">
              <a:avLst/>
            </a:prstGeom>
          </p:spPr>
          <p:txBody>
            <a:bodyPr lIns="0" tIns="0" rIns="0" bIns="0" rtlCol="0" anchor="t">
              <a:spAutoFit/>
            </a:bodyPr>
            <a:lstStyle/>
            <a:p>
              <a:pPr marL="0" lvl="0" indent="0" algn="l">
                <a:lnSpc>
                  <a:spcPts val="7699"/>
                </a:lnSpc>
              </a:pPr>
              <a:r>
                <a:rPr lang="en-US" sz="6999" b="1" spc="-69" dirty="0">
                  <a:solidFill>
                    <a:srgbClr val="6B4F3C"/>
                  </a:solidFill>
                  <a:latin typeface="Telegraf Bold"/>
                  <a:ea typeface="Telegraf Bold"/>
                  <a:cs typeface="Telegraf Bold"/>
                  <a:sym typeface="Telegraf Bold"/>
                </a:rPr>
                <a:t>Business case Overview</a:t>
              </a:r>
            </a:p>
          </p:txBody>
        </p:sp>
      </p:grpSp>
      <p:sp>
        <p:nvSpPr>
          <p:cNvPr id="11" name="AutoShape 11"/>
          <p:cNvSpPr/>
          <p:nvPr/>
        </p:nvSpPr>
        <p:spPr>
          <a:xfrm>
            <a:off x="666750" y="9620250"/>
            <a:ext cx="16954500" cy="0"/>
          </a:xfrm>
          <a:prstGeom prst="line">
            <a:avLst/>
          </a:prstGeom>
          <a:ln w="9525" cap="flat">
            <a:solidFill>
              <a:srgbClr val="404040"/>
            </a:solidFill>
            <a:prstDash val="solid"/>
            <a:headEnd type="none" w="sm" len="sm"/>
            <a:tailEnd type="none" w="sm" len="sm"/>
          </a:ln>
        </p:spPr>
      </p:sp>
      <p:sp>
        <p:nvSpPr>
          <p:cNvPr id="12" name="TextBox 12"/>
          <p:cNvSpPr txBox="1"/>
          <p:nvPr/>
        </p:nvSpPr>
        <p:spPr>
          <a:xfrm>
            <a:off x="666750" y="9676455"/>
            <a:ext cx="2571750" cy="217170"/>
          </a:xfrm>
          <a:prstGeom prst="rect">
            <a:avLst/>
          </a:prstGeom>
        </p:spPr>
        <p:txBody>
          <a:bodyPr lIns="0" tIns="0" rIns="0" bIns="0" rtlCol="0" anchor="t">
            <a:spAutoFit/>
          </a:bodyPr>
          <a:lstStyle/>
          <a:p>
            <a:pPr marL="0" lvl="0" indent="0" algn="l">
              <a:lnSpc>
                <a:spcPts val="1679"/>
              </a:lnSpc>
              <a:spcBef>
                <a:spcPct val="0"/>
              </a:spcBef>
            </a:pPr>
            <a:r>
              <a:rPr lang="en-US" sz="1200" b="1" spc="-12">
                <a:solidFill>
                  <a:srgbClr val="404040"/>
                </a:solidFill>
                <a:latin typeface="Telegraf Bold"/>
                <a:ea typeface="Telegraf Bold"/>
                <a:cs typeface="Telegraf Bold"/>
                <a:sym typeface="Telegraf Bold"/>
              </a:rPr>
              <a:t>NOTES ON CONTEXT</a:t>
            </a:r>
          </a:p>
        </p:txBody>
      </p:sp>
      <p:sp>
        <p:nvSpPr>
          <p:cNvPr id="13" name="TextBox 13"/>
          <p:cNvSpPr txBox="1"/>
          <p:nvPr/>
        </p:nvSpPr>
        <p:spPr>
          <a:xfrm>
            <a:off x="17526744" y="9676442"/>
            <a:ext cx="152400" cy="190500"/>
          </a:xfrm>
          <a:prstGeom prst="rect">
            <a:avLst/>
          </a:prstGeom>
        </p:spPr>
        <p:txBody>
          <a:bodyPr wrap="none" lIns="0" tIns="0" rIns="0" bIns="0" rtlCol="0" anchor="t">
            <a:spAutoFit/>
          </a:bodyPr>
          <a:lstStyle/>
          <a:p>
            <a:pPr marL="0" lvl="0" indent="0" algn="r">
              <a:lnSpc>
                <a:spcPts val="1679"/>
              </a:lnSpc>
              <a:spcBef>
                <a:spcPct val="0"/>
              </a:spcBef>
            </a:pPr>
            <a:r>
              <a:rPr lang="en-US" sz="1200" b="1">
                <a:solidFill>
                  <a:srgbClr val="404040"/>
                </a:solidFill>
                <a:latin typeface="Telegraf Bold"/>
                <a:ea typeface="Telegraf Bold"/>
                <a:cs typeface="Telegraf Bold"/>
                <a:sym typeface="Telegraf Bold"/>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10734675" y="3338513"/>
            <a:ext cx="6886575" cy="2241193"/>
            <a:chOff x="0" y="-19049"/>
            <a:chExt cx="9182100" cy="2988257"/>
          </a:xfrm>
        </p:grpSpPr>
        <p:sp>
          <p:nvSpPr>
            <p:cNvPr id="4" name="TextBox 4"/>
            <p:cNvSpPr txBox="1"/>
            <p:nvPr/>
          </p:nvSpPr>
          <p:spPr>
            <a:xfrm>
              <a:off x="0" y="-19049"/>
              <a:ext cx="9182100" cy="1128515"/>
            </a:xfrm>
            <a:prstGeom prst="rect">
              <a:avLst/>
            </a:prstGeom>
          </p:spPr>
          <p:txBody>
            <a:bodyPr lIns="0" tIns="0" rIns="0" bIns="0" rtlCol="0" anchor="t">
              <a:spAutoFit/>
            </a:bodyPr>
            <a:lstStyle/>
            <a:p>
              <a:pPr marL="0" lvl="0" indent="0" algn="l">
                <a:lnSpc>
                  <a:spcPts val="3300"/>
                </a:lnSpc>
              </a:pPr>
              <a:r>
                <a:rPr lang="en-US" sz="3000" b="1" spc="-30" dirty="0">
                  <a:solidFill>
                    <a:srgbClr val="B0885F"/>
                  </a:solidFill>
                  <a:latin typeface="Telegraf Bold"/>
                  <a:ea typeface="Telegraf Bold"/>
                  <a:cs typeface="Telegraf Bold"/>
                  <a:sym typeface="Telegraf Bold"/>
                </a:rPr>
                <a:t>Analyzing key revenue fluctuations over the period Jan-Jun</a:t>
              </a:r>
            </a:p>
          </p:txBody>
        </p:sp>
        <p:sp>
          <p:nvSpPr>
            <p:cNvPr id="5" name="TextBox 5"/>
            <p:cNvSpPr txBox="1"/>
            <p:nvPr/>
          </p:nvSpPr>
          <p:spPr>
            <a:xfrm>
              <a:off x="0" y="1551041"/>
              <a:ext cx="9182100" cy="1418167"/>
            </a:xfrm>
            <a:prstGeom prst="rect">
              <a:avLst/>
            </a:prstGeom>
          </p:spPr>
          <p:txBody>
            <a:bodyPr lIns="0" tIns="0" rIns="0" bIns="0" rtlCol="0" anchor="t">
              <a:spAutoFit/>
            </a:bodyPr>
            <a:lstStyle/>
            <a:p>
              <a:pPr marL="0" lvl="0" indent="0" algn="l">
                <a:lnSpc>
                  <a:spcPts val="2800"/>
                </a:lnSpc>
              </a:pPr>
              <a:r>
                <a:rPr lang="en-US" sz="2000" spc="-20" dirty="0">
                  <a:solidFill>
                    <a:srgbClr val="404040"/>
                  </a:solidFill>
                  <a:latin typeface="Telegraf"/>
                  <a:ea typeface="Telegraf"/>
                  <a:cs typeface="Telegraf"/>
                  <a:sym typeface="Telegraf"/>
                </a:rPr>
                <a:t>This chart highlights the </a:t>
              </a:r>
              <a:r>
                <a:rPr lang="en-US" sz="2000" b="1" spc="-20" dirty="0">
                  <a:solidFill>
                    <a:srgbClr val="404040"/>
                  </a:solidFill>
                  <a:latin typeface="Telegraf Bold"/>
                  <a:ea typeface="Telegraf Bold"/>
                  <a:cs typeface="Telegraf Bold"/>
                  <a:sym typeface="Telegraf Bold"/>
                </a:rPr>
                <a:t>steady growth</a:t>
              </a:r>
              <a:r>
                <a:rPr lang="en-US" sz="2000" spc="-20" dirty="0">
                  <a:solidFill>
                    <a:srgbClr val="404040"/>
                  </a:solidFill>
                  <a:latin typeface="Telegraf"/>
                  <a:ea typeface="Telegraf"/>
                  <a:cs typeface="Telegraf"/>
                  <a:sym typeface="Telegraf"/>
                </a:rPr>
                <a:t> in revenue, with noticeable peaks during peak winter seasons, indicating customer preferences.</a:t>
              </a:r>
            </a:p>
          </p:txBody>
        </p:sp>
      </p:grpSp>
      <p:grpSp>
        <p:nvGrpSpPr>
          <p:cNvPr id="6" name="Group 6"/>
          <p:cNvGrpSpPr/>
          <p:nvPr/>
        </p:nvGrpSpPr>
        <p:grpSpPr>
          <a:xfrm>
            <a:off x="0" y="0"/>
            <a:ext cx="18288000" cy="2457450"/>
            <a:chOff x="0" y="0"/>
            <a:chExt cx="4816593" cy="647230"/>
          </a:xfrm>
        </p:grpSpPr>
        <p:sp>
          <p:nvSpPr>
            <p:cNvPr id="7" name="Freeform 7"/>
            <p:cNvSpPr/>
            <p:nvPr/>
          </p:nvSpPr>
          <p:spPr>
            <a:xfrm>
              <a:off x="0" y="0"/>
              <a:ext cx="4816592" cy="647230"/>
            </a:xfrm>
            <a:custGeom>
              <a:avLst/>
              <a:gdLst/>
              <a:ahLst/>
              <a:cxnLst/>
              <a:rect l="l" t="t" r="r" b="b"/>
              <a:pathLst>
                <a:path w="4816592" h="647230">
                  <a:moveTo>
                    <a:pt x="0" y="0"/>
                  </a:moveTo>
                  <a:lnTo>
                    <a:pt x="4816592" y="0"/>
                  </a:lnTo>
                  <a:lnTo>
                    <a:pt x="4816592" y="647230"/>
                  </a:lnTo>
                  <a:lnTo>
                    <a:pt x="0" y="647230"/>
                  </a:lnTo>
                  <a:close/>
                </a:path>
              </a:pathLst>
            </a:custGeom>
            <a:solidFill>
              <a:srgbClr val="CCA278"/>
            </a:solidFill>
          </p:spPr>
        </p:sp>
        <p:sp>
          <p:nvSpPr>
            <p:cNvPr id="8" name="TextBox 8"/>
            <p:cNvSpPr txBox="1"/>
            <p:nvPr/>
          </p:nvSpPr>
          <p:spPr>
            <a:xfrm>
              <a:off x="0" y="-47625"/>
              <a:ext cx="4816593" cy="694855"/>
            </a:xfrm>
            <a:prstGeom prst="rect">
              <a:avLst/>
            </a:prstGeom>
          </p:spPr>
          <p:txBody>
            <a:bodyPr lIns="50800" tIns="50800" rIns="50800" bIns="50800" rtlCol="0" anchor="ctr"/>
            <a:lstStyle/>
            <a:p>
              <a:pPr marL="0" lvl="0" indent="0" algn="ctr">
                <a:lnSpc>
                  <a:spcPts val="2859"/>
                </a:lnSpc>
              </a:pPr>
              <a:endParaRPr/>
            </a:p>
          </p:txBody>
        </p:sp>
      </p:grpSp>
      <p:sp>
        <p:nvSpPr>
          <p:cNvPr id="9" name="TextBox 9"/>
          <p:cNvSpPr txBox="1"/>
          <p:nvPr/>
        </p:nvSpPr>
        <p:spPr>
          <a:xfrm>
            <a:off x="666750" y="657225"/>
            <a:ext cx="12639675" cy="1069975"/>
          </a:xfrm>
          <a:prstGeom prst="rect">
            <a:avLst/>
          </a:prstGeom>
        </p:spPr>
        <p:txBody>
          <a:bodyPr lIns="0" tIns="0" rIns="0" bIns="0" rtlCol="0" anchor="t">
            <a:spAutoFit/>
          </a:bodyPr>
          <a:lstStyle/>
          <a:p>
            <a:pPr marL="0" lvl="0" indent="0" algn="l">
              <a:lnSpc>
                <a:spcPts val="7699"/>
              </a:lnSpc>
            </a:pPr>
            <a:r>
              <a:rPr lang="en-US" sz="6999" b="1" spc="-69">
                <a:solidFill>
                  <a:srgbClr val="6B4F3C"/>
                </a:solidFill>
                <a:latin typeface="Telegraf Bold"/>
                <a:ea typeface="Telegraf Bold"/>
                <a:cs typeface="Telegraf Bold"/>
                <a:sym typeface="Telegraf Bold"/>
              </a:rPr>
              <a:t>Monthly Revenue Trends</a:t>
            </a:r>
          </a:p>
        </p:txBody>
      </p:sp>
      <p:sp>
        <p:nvSpPr>
          <p:cNvPr id="10" name="AutoShape 10"/>
          <p:cNvSpPr/>
          <p:nvPr/>
        </p:nvSpPr>
        <p:spPr>
          <a:xfrm>
            <a:off x="666750" y="9620250"/>
            <a:ext cx="16954500" cy="0"/>
          </a:xfrm>
          <a:prstGeom prst="line">
            <a:avLst/>
          </a:prstGeom>
          <a:ln w="9525" cap="flat">
            <a:solidFill>
              <a:srgbClr val="6B4F3C"/>
            </a:solidFill>
            <a:prstDash val="solid"/>
            <a:headEnd type="none" w="sm" len="sm"/>
            <a:tailEnd type="none" w="sm" len="sm"/>
          </a:ln>
        </p:spPr>
      </p:sp>
      <p:sp>
        <p:nvSpPr>
          <p:cNvPr id="11" name="TextBox 11"/>
          <p:cNvSpPr txBox="1"/>
          <p:nvPr/>
        </p:nvSpPr>
        <p:spPr>
          <a:xfrm>
            <a:off x="666750" y="9676455"/>
            <a:ext cx="2571750" cy="217170"/>
          </a:xfrm>
          <a:prstGeom prst="rect">
            <a:avLst/>
          </a:prstGeom>
        </p:spPr>
        <p:txBody>
          <a:bodyPr lIns="0" tIns="0" rIns="0" bIns="0" rtlCol="0" anchor="t">
            <a:spAutoFit/>
          </a:bodyPr>
          <a:lstStyle/>
          <a:p>
            <a:pPr marL="0" lvl="0" indent="0" algn="l">
              <a:lnSpc>
                <a:spcPts val="1679"/>
              </a:lnSpc>
              <a:spcBef>
                <a:spcPct val="0"/>
              </a:spcBef>
            </a:pPr>
            <a:r>
              <a:rPr lang="en-US" sz="1200" b="1" spc="-12">
                <a:solidFill>
                  <a:srgbClr val="404040"/>
                </a:solidFill>
                <a:latin typeface="Telegraf Bold"/>
                <a:ea typeface="Telegraf Bold"/>
                <a:cs typeface="Telegraf Bold"/>
                <a:sym typeface="Telegraf Bold"/>
              </a:rPr>
              <a:t>ADDITIONAL INSIGHTS</a:t>
            </a:r>
          </a:p>
        </p:txBody>
      </p:sp>
      <p:sp>
        <p:nvSpPr>
          <p:cNvPr id="12" name="TextBox 12"/>
          <p:cNvSpPr txBox="1"/>
          <p:nvPr/>
        </p:nvSpPr>
        <p:spPr>
          <a:xfrm>
            <a:off x="17462748" y="9676442"/>
            <a:ext cx="152400" cy="190500"/>
          </a:xfrm>
          <a:prstGeom prst="rect">
            <a:avLst/>
          </a:prstGeom>
        </p:spPr>
        <p:txBody>
          <a:bodyPr wrap="none" lIns="0" tIns="0" rIns="0" bIns="0" rtlCol="0" anchor="t">
            <a:spAutoFit/>
          </a:bodyPr>
          <a:lstStyle/>
          <a:p>
            <a:pPr marL="0" lvl="0" indent="0" algn="r">
              <a:lnSpc>
                <a:spcPts val="1679"/>
              </a:lnSpc>
              <a:spcBef>
                <a:spcPct val="0"/>
              </a:spcBef>
            </a:pPr>
            <a:r>
              <a:rPr lang="en-US" sz="1200" b="1">
                <a:solidFill>
                  <a:srgbClr val="404040"/>
                </a:solidFill>
                <a:latin typeface="Telegraf Bold"/>
                <a:ea typeface="Telegraf Bold"/>
                <a:cs typeface="Telegraf Bold"/>
                <a:sym typeface="Telegraf Bold"/>
              </a:rPr>
              <a:t>3</a:t>
            </a:r>
          </a:p>
        </p:txBody>
      </p:sp>
      <p:graphicFrame>
        <p:nvGraphicFramePr>
          <p:cNvPr id="14" name="Content Placeholder 8">
            <a:extLst>
              <a:ext uri="{FF2B5EF4-FFF2-40B4-BE49-F238E27FC236}">
                <a16:creationId xmlns:a16="http://schemas.microsoft.com/office/drawing/2014/main" id="{58F05B6B-EC5A-89B5-34B4-3F60EC45B1DD}"/>
              </a:ext>
            </a:extLst>
          </p:cNvPr>
          <p:cNvGraphicFramePr>
            <a:graphicFrameLocks/>
          </p:cNvGraphicFramePr>
          <p:nvPr>
            <p:extLst>
              <p:ext uri="{D42A27DB-BD31-4B8C-83A1-F6EECF244321}">
                <p14:modId xmlns:p14="http://schemas.microsoft.com/office/powerpoint/2010/main" val="1917526595"/>
              </p:ext>
            </p:extLst>
          </p:nvPr>
        </p:nvGraphicFramePr>
        <p:xfrm>
          <a:off x="304801" y="2701924"/>
          <a:ext cx="9982200" cy="6403972"/>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E"/>
        </a:solidFill>
        <a:effectLst/>
      </p:bgPr>
    </p:bg>
    <p:spTree>
      <p:nvGrpSpPr>
        <p:cNvPr id="1" name=""/>
        <p:cNvGrpSpPr/>
        <p:nvPr/>
      </p:nvGrpSpPr>
      <p:grpSpPr>
        <a:xfrm>
          <a:off x="0" y="0"/>
          <a:ext cx="0" cy="0"/>
          <a:chOff x="0" y="0"/>
          <a:chExt cx="0" cy="0"/>
        </a:xfrm>
      </p:grpSpPr>
      <p:sp>
        <p:nvSpPr>
          <p:cNvPr id="3" name="TextBox 3"/>
          <p:cNvSpPr txBox="1"/>
          <p:nvPr/>
        </p:nvSpPr>
        <p:spPr>
          <a:xfrm>
            <a:off x="666750" y="647700"/>
            <a:ext cx="9763125" cy="1079500"/>
          </a:xfrm>
          <a:prstGeom prst="rect">
            <a:avLst/>
          </a:prstGeom>
        </p:spPr>
        <p:txBody>
          <a:bodyPr lIns="0" tIns="0" rIns="0" bIns="0" rtlCol="0" anchor="t">
            <a:spAutoFit/>
          </a:bodyPr>
          <a:lstStyle/>
          <a:p>
            <a:pPr marL="0" lvl="0" indent="0" algn="l">
              <a:lnSpc>
                <a:spcPts val="7700"/>
              </a:lnSpc>
            </a:pPr>
            <a:r>
              <a:rPr lang="en-US" sz="7000" b="1" spc="-70" dirty="0">
                <a:solidFill>
                  <a:srgbClr val="5B4F47"/>
                </a:solidFill>
                <a:latin typeface="Telegraf Bold"/>
                <a:ea typeface="Telegraf Bold"/>
                <a:cs typeface="Telegraf Bold"/>
                <a:sym typeface="Telegraf Bold"/>
              </a:rPr>
              <a:t>Sales by Category</a:t>
            </a:r>
          </a:p>
        </p:txBody>
      </p:sp>
      <p:grpSp>
        <p:nvGrpSpPr>
          <p:cNvPr id="4" name="Group 4"/>
          <p:cNvGrpSpPr/>
          <p:nvPr/>
        </p:nvGrpSpPr>
        <p:grpSpPr>
          <a:xfrm>
            <a:off x="13355333" y="1638300"/>
            <a:ext cx="4265917" cy="5599187"/>
            <a:chOff x="-207457" y="-1092056"/>
            <a:chExt cx="5687889" cy="7465583"/>
          </a:xfrm>
        </p:grpSpPr>
        <p:sp>
          <p:nvSpPr>
            <p:cNvPr id="5" name="TextBox 5"/>
            <p:cNvSpPr txBox="1"/>
            <p:nvPr/>
          </p:nvSpPr>
          <p:spPr>
            <a:xfrm>
              <a:off x="0" y="3545660"/>
              <a:ext cx="5480432" cy="2827867"/>
            </a:xfrm>
            <a:prstGeom prst="rect">
              <a:avLst/>
            </a:prstGeom>
          </p:spPr>
          <p:txBody>
            <a:bodyPr lIns="0" tIns="0" rIns="0" bIns="0" rtlCol="0" anchor="t">
              <a:spAutoFit/>
            </a:bodyPr>
            <a:lstStyle/>
            <a:p>
              <a:pPr marL="0" lvl="0" indent="0" algn="l">
                <a:lnSpc>
                  <a:spcPts val="2800"/>
                </a:lnSpc>
              </a:pPr>
              <a:r>
                <a:rPr lang="en-US" sz="2000" spc="-20" dirty="0">
                  <a:solidFill>
                    <a:srgbClr val="5B4F47"/>
                  </a:solidFill>
                  <a:latin typeface="Telegraf"/>
                  <a:ea typeface="Telegraf"/>
                  <a:cs typeface="Telegraf"/>
                  <a:sym typeface="Telegraf"/>
                </a:rPr>
                <a:t>The chart illustrates sales distribution across product categories, highlighting </a:t>
              </a:r>
              <a:r>
                <a:rPr lang="en-US" sz="2000" b="1" spc="-20" dirty="0">
                  <a:solidFill>
                    <a:srgbClr val="5B4F47"/>
                  </a:solidFill>
                  <a:latin typeface="Telegraf Bold"/>
                  <a:ea typeface="Telegraf Bold"/>
                  <a:cs typeface="Telegraf Bold"/>
                  <a:sym typeface="Telegraf Bold"/>
                </a:rPr>
                <a:t>strong espresso sales</a:t>
              </a:r>
              <a:r>
                <a:rPr lang="en-US" sz="2000" spc="-20" dirty="0">
                  <a:solidFill>
                    <a:srgbClr val="5B4F47"/>
                  </a:solidFill>
                  <a:latin typeface="Telegraf"/>
                  <a:ea typeface="Telegraf"/>
                  <a:cs typeface="Telegraf"/>
                  <a:sym typeface="Telegraf"/>
                </a:rPr>
                <a:t> while indicating opportunities for pastries and consistent cold drink demand.</a:t>
              </a:r>
            </a:p>
          </p:txBody>
        </p:sp>
        <p:sp>
          <p:nvSpPr>
            <p:cNvPr id="6" name="TextBox 6"/>
            <p:cNvSpPr txBox="1"/>
            <p:nvPr/>
          </p:nvSpPr>
          <p:spPr>
            <a:xfrm>
              <a:off x="-207457" y="-1092056"/>
              <a:ext cx="5480432" cy="3949799"/>
            </a:xfrm>
            <a:prstGeom prst="rect">
              <a:avLst/>
            </a:prstGeom>
          </p:spPr>
          <p:txBody>
            <a:bodyPr lIns="0" tIns="0" rIns="0" bIns="0" rtlCol="0" anchor="t">
              <a:spAutoFit/>
            </a:bodyPr>
            <a:lstStyle/>
            <a:p>
              <a:pPr marL="0" lvl="0" indent="0" algn="l">
                <a:lnSpc>
                  <a:spcPts val="3300"/>
                </a:lnSpc>
              </a:pPr>
              <a:r>
                <a:rPr lang="en-US" sz="3000" b="1" spc="-30" dirty="0">
                  <a:solidFill>
                    <a:srgbClr val="BD9479"/>
                  </a:solidFill>
                  <a:latin typeface="Telegraf Bold"/>
                  <a:ea typeface="Telegraf Bold"/>
                  <a:cs typeface="Telegraf Bold"/>
                  <a:sym typeface="Telegraf Bold"/>
                </a:rPr>
                <a:t>Gourmet brewed coffee leads sales, pastries show potential growth, cold drinks steady performance observed</a:t>
              </a:r>
            </a:p>
          </p:txBody>
        </p:sp>
      </p:grpSp>
      <p:sp>
        <p:nvSpPr>
          <p:cNvPr id="7" name="AutoShape 7"/>
          <p:cNvSpPr/>
          <p:nvPr/>
        </p:nvSpPr>
        <p:spPr>
          <a:xfrm>
            <a:off x="666750" y="9620250"/>
            <a:ext cx="16954500" cy="0"/>
          </a:xfrm>
          <a:prstGeom prst="line">
            <a:avLst/>
          </a:prstGeom>
          <a:ln w="9525" cap="flat">
            <a:solidFill>
              <a:srgbClr val="5B4F47"/>
            </a:solidFill>
            <a:prstDash val="solid"/>
            <a:headEnd type="none" w="sm" len="sm"/>
            <a:tailEnd type="none" w="sm" len="sm"/>
          </a:ln>
        </p:spPr>
      </p:sp>
      <p:sp>
        <p:nvSpPr>
          <p:cNvPr id="8" name="TextBox 8"/>
          <p:cNvSpPr txBox="1"/>
          <p:nvPr/>
        </p:nvSpPr>
        <p:spPr>
          <a:xfrm>
            <a:off x="666750" y="9676455"/>
            <a:ext cx="2571750" cy="217170"/>
          </a:xfrm>
          <a:prstGeom prst="rect">
            <a:avLst/>
          </a:prstGeom>
        </p:spPr>
        <p:txBody>
          <a:bodyPr lIns="0" tIns="0" rIns="0" bIns="0" rtlCol="0" anchor="t">
            <a:spAutoFit/>
          </a:bodyPr>
          <a:lstStyle/>
          <a:p>
            <a:pPr marL="0" lvl="0" indent="0" algn="l">
              <a:lnSpc>
                <a:spcPts val="1679"/>
              </a:lnSpc>
              <a:spcBef>
                <a:spcPct val="0"/>
              </a:spcBef>
            </a:pPr>
            <a:r>
              <a:rPr lang="en-US" sz="1200" b="1" spc="-12">
                <a:solidFill>
                  <a:srgbClr val="5B4F47"/>
                </a:solidFill>
                <a:latin typeface="Telegraf Bold"/>
                <a:ea typeface="Telegraf Bold"/>
                <a:cs typeface="Telegraf Bold"/>
                <a:sym typeface="Telegraf Bold"/>
              </a:rPr>
              <a:t>INSIGHTS OVERVIEW</a:t>
            </a:r>
          </a:p>
        </p:txBody>
      </p:sp>
      <p:sp>
        <p:nvSpPr>
          <p:cNvPr id="9" name="TextBox 9"/>
          <p:cNvSpPr txBox="1"/>
          <p:nvPr/>
        </p:nvSpPr>
        <p:spPr>
          <a:xfrm>
            <a:off x="17431021" y="9676442"/>
            <a:ext cx="152400" cy="190500"/>
          </a:xfrm>
          <a:prstGeom prst="rect">
            <a:avLst/>
          </a:prstGeom>
        </p:spPr>
        <p:txBody>
          <a:bodyPr wrap="none" lIns="0" tIns="0" rIns="0" bIns="0" rtlCol="0" anchor="t">
            <a:spAutoFit/>
          </a:bodyPr>
          <a:lstStyle/>
          <a:p>
            <a:pPr marL="0" lvl="0" indent="0" algn="r">
              <a:lnSpc>
                <a:spcPts val="1679"/>
              </a:lnSpc>
              <a:spcBef>
                <a:spcPct val="0"/>
              </a:spcBef>
            </a:pPr>
            <a:r>
              <a:rPr lang="en-US" sz="1200" b="1">
                <a:solidFill>
                  <a:srgbClr val="5B4F47"/>
                </a:solidFill>
                <a:latin typeface="Telegraf Bold"/>
                <a:ea typeface="Telegraf Bold"/>
                <a:cs typeface="Telegraf Bold"/>
                <a:sym typeface="Telegraf Bold"/>
              </a:rPr>
              <a:t>4</a:t>
            </a:r>
          </a:p>
        </p:txBody>
      </p:sp>
      <p:graphicFrame>
        <p:nvGraphicFramePr>
          <p:cNvPr id="10" name="Content Placeholder 8">
            <a:extLst>
              <a:ext uri="{FF2B5EF4-FFF2-40B4-BE49-F238E27FC236}">
                <a16:creationId xmlns:a16="http://schemas.microsoft.com/office/drawing/2014/main" id="{10F6AA85-9792-66BA-5CEA-3037423C2986}"/>
              </a:ext>
            </a:extLst>
          </p:cNvPr>
          <p:cNvGraphicFramePr>
            <a:graphicFrameLocks/>
          </p:cNvGraphicFramePr>
          <p:nvPr>
            <p:extLst>
              <p:ext uri="{D42A27DB-BD31-4B8C-83A1-F6EECF244321}">
                <p14:modId xmlns:p14="http://schemas.microsoft.com/office/powerpoint/2010/main" val="1095296213"/>
              </p:ext>
            </p:extLst>
          </p:nvPr>
        </p:nvGraphicFramePr>
        <p:xfrm>
          <a:off x="304800" y="1783404"/>
          <a:ext cx="12649199" cy="778064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 name="Content Placeholder 8">
            <a:extLst>
              <a:ext uri="{FF2B5EF4-FFF2-40B4-BE49-F238E27FC236}">
                <a16:creationId xmlns:a16="http://schemas.microsoft.com/office/drawing/2014/main" id="{D7CA6A17-66D2-A318-C482-AF49E5BC1120}"/>
              </a:ext>
            </a:extLst>
          </p:cNvPr>
          <p:cNvGraphicFramePr>
            <a:graphicFrameLocks/>
          </p:cNvGraphicFramePr>
          <p:nvPr>
            <p:extLst>
              <p:ext uri="{D42A27DB-BD31-4B8C-83A1-F6EECF244321}">
                <p14:modId xmlns:p14="http://schemas.microsoft.com/office/powerpoint/2010/main" val="2675797852"/>
              </p:ext>
            </p:extLst>
          </p:nvPr>
        </p:nvGraphicFramePr>
        <p:xfrm>
          <a:off x="666751" y="2701924"/>
          <a:ext cx="12058650" cy="609917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10734675" y="3338513"/>
            <a:ext cx="6886575" cy="3669019"/>
            <a:chOff x="0" y="-19049"/>
            <a:chExt cx="9182100" cy="4892023"/>
          </a:xfrm>
        </p:grpSpPr>
        <p:sp>
          <p:nvSpPr>
            <p:cNvPr id="4" name="TextBox 4"/>
            <p:cNvSpPr txBox="1"/>
            <p:nvPr/>
          </p:nvSpPr>
          <p:spPr>
            <a:xfrm>
              <a:off x="0" y="-19049"/>
              <a:ext cx="9182100" cy="1128515"/>
            </a:xfrm>
            <a:prstGeom prst="rect">
              <a:avLst/>
            </a:prstGeom>
          </p:spPr>
          <p:txBody>
            <a:bodyPr lIns="0" tIns="0" rIns="0" bIns="0" rtlCol="0" anchor="t">
              <a:spAutoFit/>
            </a:bodyPr>
            <a:lstStyle/>
            <a:p>
              <a:pPr marL="0" lvl="0" indent="0" algn="l">
                <a:lnSpc>
                  <a:spcPts val="3300"/>
                </a:lnSpc>
              </a:pPr>
              <a:r>
                <a:rPr lang="en-US" sz="3000" b="1" spc="-30" dirty="0">
                  <a:solidFill>
                    <a:srgbClr val="B0885F"/>
                  </a:solidFill>
                  <a:latin typeface="Telegraf Bold"/>
                  <a:ea typeface="Telegraf Bold"/>
                  <a:cs typeface="Telegraf Bold"/>
                  <a:sym typeface="Telegraf Bold"/>
                </a:rPr>
                <a:t>Insights into sales by store location and month</a:t>
              </a:r>
            </a:p>
          </p:txBody>
        </p:sp>
        <p:sp>
          <p:nvSpPr>
            <p:cNvPr id="5" name="TextBox 5"/>
            <p:cNvSpPr txBox="1"/>
            <p:nvPr/>
          </p:nvSpPr>
          <p:spPr>
            <a:xfrm>
              <a:off x="0" y="1551041"/>
              <a:ext cx="9182100" cy="3321933"/>
            </a:xfrm>
            <a:prstGeom prst="rect">
              <a:avLst/>
            </a:prstGeom>
          </p:spPr>
          <p:txBody>
            <a:bodyPr lIns="0" tIns="0" rIns="0" bIns="0" rtlCol="0" anchor="t">
              <a:spAutoFit/>
            </a:bodyPr>
            <a:lstStyle/>
            <a:p>
              <a:pPr marL="0" lvl="0" indent="0" algn="l">
                <a:lnSpc>
                  <a:spcPts val="2800"/>
                </a:lnSpc>
              </a:pPr>
              <a:r>
                <a:rPr lang="en-US" sz="2000" spc="-20" dirty="0">
                  <a:solidFill>
                    <a:srgbClr val="404040"/>
                  </a:solidFill>
                  <a:latin typeface="Telegraf"/>
                  <a:ea typeface="Telegraf"/>
                  <a:cs typeface="Telegraf"/>
                  <a:sym typeface="Telegraf"/>
                </a:rPr>
                <a:t>All three store are showing consistent growth from January with sales increasing as the colder months are approaching indication increased demand for warm beverage and complementary pastries for the winter period. This gives valuable insights into customer behavior and preferences, guiding targeted marketing strategies for the winter season.</a:t>
              </a:r>
            </a:p>
          </p:txBody>
        </p:sp>
      </p:grpSp>
      <p:grpSp>
        <p:nvGrpSpPr>
          <p:cNvPr id="6" name="Group 6"/>
          <p:cNvGrpSpPr/>
          <p:nvPr/>
        </p:nvGrpSpPr>
        <p:grpSpPr>
          <a:xfrm>
            <a:off x="-6927" y="0"/>
            <a:ext cx="18288000" cy="2457450"/>
            <a:chOff x="0" y="0"/>
            <a:chExt cx="4816593" cy="647230"/>
          </a:xfrm>
        </p:grpSpPr>
        <p:sp>
          <p:nvSpPr>
            <p:cNvPr id="7" name="Freeform 7"/>
            <p:cNvSpPr/>
            <p:nvPr/>
          </p:nvSpPr>
          <p:spPr>
            <a:xfrm>
              <a:off x="0" y="0"/>
              <a:ext cx="4816592" cy="647230"/>
            </a:xfrm>
            <a:custGeom>
              <a:avLst/>
              <a:gdLst/>
              <a:ahLst/>
              <a:cxnLst/>
              <a:rect l="l" t="t" r="r" b="b"/>
              <a:pathLst>
                <a:path w="4816592" h="647230">
                  <a:moveTo>
                    <a:pt x="0" y="0"/>
                  </a:moveTo>
                  <a:lnTo>
                    <a:pt x="4816592" y="0"/>
                  </a:lnTo>
                  <a:lnTo>
                    <a:pt x="4816592" y="647230"/>
                  </a:lnTo>
                  <a:lnTo>
                    <a:pt x="0" y="647230"/>
                  </a:lnTo>
                  <a:close/>
                </a:path>
              </a:pathLst>
            </a:custGeom>
            <a:solidFill>
              <a:srgbClr val="CCA278"/>
            </a:solidFill>
          </p:spPr>
        </p:sp>
        <p:sp>
          <p:nvSpPr>
            <p:cNvPr id="8" name="TextBox 8"/>
            <p:cNvSpPr txBox="1"/>
            <p:nvPr/>
          </p:nvSpPr>
          <p:spPr>
            <a:xfrm>
              <a:off x="0" y="-47625"/>
              <a:ext cx="4816593" cy="694855"/>
            </a:xfrm>
            <a:prstGeom prst="rect">
              <a:avLst/>
            </a:prstGeom>
          </p:spPr>
          <p:txBody>
            <a:bodyPr lIns="50800" tIns="50800" rIns="50800" bIns="50800" rtlCol="0" anchor="ctr"/>
            <a:lstStyle/>
            <a:p>
              <a:pPr marL="0" lvl="0" indent="0" algn="ctr">
                <a:lnSpc>
                  <a:spcPts val="2859"/>
                </a:lnSpc>
              </a:pPr>
              <a:endParaRPr/>
            </a:p>
          </p:txBody>
        </p:sp>
      </p:grpSp>
      <p:sp>
        <p:nvSpPr>
          <p:cNvPr id="9" name="TextBox 9"/>
          <p:cNvSpPr txBox="1"/>
          <p:nvPr/>
        </p:nvSpPr>
        <p:spPr>
          <a:xfrm>
            <a:off x="666750" y="657225"/>
            <a:ext cx="12639675" cy="987450"/>
          </a:xfrm>
          <a:prstGeom prst="rect">
            <a:avLst/>
          </a:prstGeom>
        </p:spPr>
        <p:txBody>
          <a:bodyPr lIns="0" tIns="0" rIns="0" bIns="0" rtlCol="0" anchor="t">
            <a:spAutoFit/>
          </a:bodyPr>
          <a:lstStyle/>
          <a:p>
            <a:pPr marL="0" lvl="0" indent="0" algn="l">
              <a:lnSpc>
                <a:spcPts val="7699"/>
              </a:lnSpc>
            </a:pPr>
            <a:r>
              <a:rPr lang="en-US" sz="6999" b="1" spc="-69" dirty="0">
                <a:solidFill>
                  <a:srgbClr val="6B4F3C"/>
                </a:solidFill>
                <a:latin typeface="Telegraf Bold"/>
                <a:ea typeface="Telegraf Bold"/>
                <a:cs typeface="Telegraf Bold"/>
                <a:sym typeface="Telegraf Bold"/>
              </a:rPr>
              <a:t>Store Performance</a:t>
            </a:r>
          </a:p>
        </p:txBody>
      </p:sp>
      <p:sp>
        <p:nvSpPr>
          <p:cNvPr id="10" name="AutoShape 10"/>
          <p:cNvSpPr/>
          <p:nvPr/>
        </p:nvSpPr>
        <p:spPr>
          <a:xfrm>
            <a:off x="666750" y="9620250"/>
            <a:ext cx="16954500" cy="0"/>
          </a:xfrm>
          <a:prstGeom prst="line">
            <a:avLst/>
          </a:prstGeom>
          <a:ln w="9525" cap="flat">
            <a:solidFill>
              <a:srgbClr val="6B4F3C"/>
            </a:solidFill>
            <a:prstDash val="solid"/>
            <a:headEnd type="none" w="sm" len="sm"/>
            <a:tailEnd type="none" w="sm" len="sm"/>
          </a:ln>
        </p:spPr>
      </p:sp>
      <p:sp>
        <p:nvSpPr>
          <p:cNvPr id="11" name="TextBox 11"/>
          <p:cNvSpPr txBox="1"/>
          <p:nvPr/>
        </p:nvSpPr>
        <p:spPr>
          <a:xfrm>
            <a:off x="666750" y="9676455"/>
            <a:ext cx="2571750" cy="217170"/>
          </a:xfrm>
          <a:prstGeom prst="rect">
            <a:avLst/>
          </a:prstGeom>
        </p:spPr>
        <p:txBody>
          <a:bodyPr lIns="0" tIns="0" rIns="0" bIns="0" rtlCol="0" anchor="t">
            <a:spAutoFit/>
          </a:bodyPr>
          <a:lstStyle/>
          <a:p>
            <a:pPr marL="0" lvl="0" indent="0" algn="l">
              <a:lnSpc>
                <a:spcPts val="1679"/>
              </a:lnSpc>
              <a:spcBef>
                <a:spcPct val="0"/>
              </a:spcBef>
            </a:pPr>
            <a:r>
              <a:rPr lang="en-US" sz="1200" b="1" spc="-12">
                <a:solidFill>
                  <a:srgbClr val="404040"/>
                </a:solidFill>
                <a:latin typeface="Telegraf Bold"/>
                <a:ea typeface="Telegraf Bold"/>
                <a:cs typeface="Telegraf Bold"/>
                <a:sym typeface="Telegraf Bold"/>
              </a:rPr>
              <a:t>KEY INSIGHTS</a:t>
            </a:r>
          </a:p>
        </p:txBody>
      </p:sp>
      <p:sp>
        <p:nvSpPr>
          <p:cNvPr id="12" name="TextBox 12"/>
          <p:cNvSpPr txBox="1"/>
          <p:nvPr/>
        </p:nvSpPr>
        <p:spPr>
          <a:xfrm>
            <a:off x="17462748" y="9676442"/>
            <a:ext cx="152400" cy="190500"/>
          </a:xfrm>
          <a:prstGeom prst="rect">
            <a:avLst/>
          </a:prstGeom>
        </p:spPr>
        <p:txBody>
          <a:bodyPr wrap="none" lIns="0" tIns="0" rIns="0" bIns="0" rtlCol="0" anchor="t">
            <a:spAutoFit/>
          </a:bodyPr>
          <a:lstStyle/>
          <a:p>
            <a:pPr marL="0" lvl="0" indent="0" algn="r">
              <a:lnSpc>
                <a:spcPts val="1679"/>
              </a:lnSpc>
              <a:spcBef>
                <a:spcPct val="0"/>
              </a:spcBef>
            </a:pPr>
            <a:r>
              <a:rPr lang="en-US" sz="1200" b="1">
                <a:solidFill>
                  <a:srgbClr val="404040"/>
                </a:solidFill>
                <a:latin typeface="Telegraf Bold"/>
                <a:ea typeface="Telegraf Bold"/>
                <a:cs typeface="Telegraf Bold"/>
                <a:sym typeface="Telegraf Bold"/>
              </a:rPr>
              <a:t>5</a:t>
            </a:r>
          </a:p>
        </p:txBody>
      </p:sp>
      <p:graphicFrame>
        <p:nvGraphicFramePr>
          <p:cNvPr id="14" name="Content Placeholder 8">
            <a:extLst>
              <a:ext uri="{FF2B5EF4-FFF2-40B4-BE49-F238E27FC236}">
                <a16:creationId xmlns:a16="http://schemas.microsoft.com/office/drawing/2014/main" id="{92E36808-2D84-02C1-59AB-A1FEE3B6E113}"/>
              </a:ext>
            </a:extLst>
          </p:cNvPr>
          <p:cNvGraphicFramePr>
            <a:graphicFrameLocks/>
          </p:cNvGraphicFramePr>
          <p:nvPr>
            <p:extLst>
              <p:ext uri="{D42A27DB-BD31-4B8C-83A1-F6EECF244321}">
                <p14:modId xmlns:p14="http://schemas.microsoft.com/office/powerpoint/2010/main" val="2346564616"/>
              </p:ext>
            </p:extLst>
          </p:nvPr>
        </p:nvGraphicFramePr>
        <p:xfrm>
          <a:off x="381000" y="3338513"/>
          <a:ext cx="10210800" cy="52578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E"/>
        </a:solidFill>
        <a:effectLst/>
      </p:bgPr>
    </p:bg>
    <p:spTree>
      <p:nvGrpSpPr>
        <p:cNvPr id="1" name=""/>
        <p:cNvGrpSpPr/>
        <p:nvPr/>
      </p:nvGrpSpPr>
      <p:grpSpPr>
        <a:xfrm>
          <a:off x="0" y="0"/>
          <a:ext cx="0" cy="0"/>
          <a:chOff x="0" y="0"/>
          <a:chExt cx="0" cy="0"/>
        </a:xfrm>
      </p:grpSpPr>
      <p:sp>
        <p:nvSpPr>
          <p:cNvPr id="2" name="AutoShape 2"/>
          <p:cNvSpPr/>
          <p:nvPr/>
        </p:nvSpPr>
        <p:spPr>
          <a:xfrm>
            <a:off x="666750" y="9620250"/>
            <a:ext cx="16954500" cy="0"/>
          </a:xfrm>
          <a:prstGeom prst="line">
            <a:avLst/>
          </a:prstGeom>
          <a:ln w="9525" cap="flat">
            <a:solidFill>
              <a:srgbClr val="8C8781"/>
            </a:solidFill>
            <a:prstDash val="solid"/>
            <a:headEnd type="none" w="sm" len="sm"/>
            <a:tailEnd type="none" w="sm" len="sm"/>
          </a:ln>
        </p:spPr>
      </p:sp>
      <p:sp>
        <p:nvSpPr>
          <p:cNvPr id="3" name="TextBox 3"/>
          <p:cNvSpPr txBox="1"/>
          <p:nvPr/>
        </p:nvSpPr>
        <p:spPr>
          <a:xfrm>
            <a:off x="666750" y="647700"/>
            <a:ext cx="9763125" cy="1974900"/>
          </a:xfrm>
          <a:prstGeom prst="rect">
            <a:avLst/>
          </a:prstGeom>
        </p:spPr>
        <p:txBody>
          <a:bodyPr lIns="0" tIns="0" rIns="0" bIns="0" rtlCol="0" anchor="t">
            <a:spAutoFit/>
          </a:bodyPr>
          <a:lstStyle/>
          <a:p>
            <a:pPr marL="0" lvl="0" indent="0" algn="l">
              <a:lnSpc>
                <a:spcPts val="7700"/>
              </a:lnSpc>
            </a:pPr>
            <a:r>
              <a:rPr lang="en-US" sz="7000" b="1" spc="-70" dirty="0">
                <a:solidFill>
                  <a:srgbClr val="6B4F3C"/>
                </a:solidFill>
                <a:latin typeface="Telegraf Bold"/>
                <a:ea typeface="Telegraf Bold"/>
                <a:cs typeface="Telegraf Bold"/>
                <a:sym typeface="Telegraf Bold"/>
              </a:rPr>
              <a:t>Peak time interval Analysis</a:t>
            </a:r>
          </a:p>
        </p:txBody>
      </p:sp>
      <p:grpSp>
        <p:nvGrpSpPr>
          <p:cNvPr id="4" name="Group 4"/>
          <p:cNvGrpSpPr/>
          <p:nvPr/>
        </p:nvGrpSpPr>
        <p:grpSpPr>
          <a:xfrm>
            <a:off x="12172950" y="2443055"/>
            <a:ext cx="5448300" cy="3251382"/>
            <a:chOff x="0" y="-19049"/>
            <a:chExt cx="7264400" cy="4335176"/>
          </a:xfrm>
        </p:grpSpPr>
        <p:sp>
          <p:nvSpPr>
            <p:cNvPr id="5" name="TextBox 5"/>
            <p:cNvSpPr txBox="1"/>
            <p:nvPr/>
          </p:nvSpPr>
          <p:spPr>
            <a:xfrm>
              <a:off x="0" y="2428060"/>
              <a:ext cx="7264400" cy="1888067"/>
            </a:xfrm>
            <a:prstGeom prst="rect">
              <a:avLst/>
            </a:prstGeom>
          </p:spPr>
          <p:txBody>
            <a:bodyPr lIns="0" tIns="0" rIns="0" bIns="0" rtlCol="0" anchor="t">
              <a:spAutoFit/>
            </a:bodyPr>
            <a:lstStyle/>
            <a:p>
              <a:pPr marL="0" lvl="0" indent="0" algn="l">
                <a:lnSpc>
                  <a:spcPts val="2800"/>
                </a:lnSpc>
              </a:pPr>
              <a:r>
                <a:rPr lang="en-US" sz="2000" spc="-20" dirty="0">
                  <a:solidFill>
                    <a:srgbClr val="8C8781"/>
                  </a:solidFill>
                  <a:latin typeface="Telegraf"/>
                  <a:ea typeface="Telegraf"/>
                  <a:cs typeface="Telegraf"/>
                  <a:sym typeface="Telegraf"/>
                </a:rPr>
                <a:t>The chart reveals a clear trend indicating increased transaction counts in the mornings and weekdays, suggesting potential for targeted promotions during these peak times.</a:t>
              </a:r>
            </a:p>
          </p:txBody>
        </p:sp>
        <p:sp>
          <p:nvSpPr>
            <p:cNvPr id="6" name="TextBox 6"/>
            <p:cNvSpPr txBox="1"/>
            <p:nvPr/>
          </p:nvSpPr>
          <p:spPr>
            <a:xfrm>
              <a:off x="0" y="-19049"/>
              <a:ext cx="7264400" cy="2257028"/>
            </a:xfrm>
            <a:prstGeom prst="rect">
              <a:avLst/>
            </a:prstGeom>
          </p:spPr>
          <p:txBody>
            <a:bodyPr lIns="0" tIns="0" rIns="0" bIns="0" rtlCol="0" anchor="t">
              <a:spAutoFit/>
            </a:bodyPr>
            <a:lstStyle/>
            <a:p>
              <a:pPr marL="0" lvl="0" indent="0" algn="l">
                <a:lnSpc>
                  <a:spcPts val="3300"/>
                </a:lnSpc>
              </a:pPr>
              <a:r>
                <a:rPr lang="en-US" sz="3000" b="1" spc="-30" dirty="0">
                  <a:solidFill>
                    <a:srgbClr val="6B4F3C"/>
                  </a:solidFill>
                  <a:latin typeface="Telegraf Bold"/>
                  <a:ea typeface="Telegraf Bold"/>
                  <a:cs typeface="Telegraf Bold"/>
                  <a:sym typeface="Telegraf Bold"/>
                </a:rPr>
                <a:t>Transaction sales peak in the morning, highlighting busy periods and customer engagement.</a:t>
              </a:r>
            </a:p>
          </p:txBody>
        </p:sp>
      </p:grpSp>
      <p:sp>
        <p:nvSpPr>
          <p:cNvPr id="7" name="TextBox 7"/>
          <p:cNvSpPr txBox="1"/>
          <p:nvPr/>
        </p:nvSpPr>
        <p:spPr>
          <a:xfrm>
            <a:off x="666750" y="9676455"/>
            <a:ext cx="2571750" cy="217170"/>
          </a:xfrm>
          <a:prstGeom prst="rect">
            <a:avLst/>
          </a:prstGeom>
        </p:spPr>
        <p:txBody>
          <a:bodyPr lIns="0" tIns="0" rIns="0" bIns="0" rtlCol="0" anchor="t">
            <a:spAutoFit/>
          </a:bodyPr>
          <a:lstStyle/>
          <a:p>
            <a:pPr marL="0" lvl="0" indent="0" algn="l">
              <a:lnSpc>
                <a:spcPts val="1679"/>
              </a:lnSpc>
              <a:spcBef>
                <a:spcPct val="0"/>
              </a:spcBef>
            </a:pPr>
            <a:r>
              <a:rPr lang="en-US" sz="1200" b="1" spc="-12">
                <a:solidFill>
                  <a:srgbClr val="8C8781"/>
                </a:solidFill>
                <a:latin typeface="Telegraf Bold"/>
                <a:ea typeface="Telegraf Bold"/>
                <a:cs typeface="Telegraf Bold"/>
                <a:sym typeface="Telegraf Bold"/>
              </a:rPr>
              <a:t>INSIGHTS OVERVIEW</a:t>
            </a:r>
          </a:p>
        </p:txBody>
      </p:sp>
      <p:sp>
        <p:nvSpPr>
          <p:cNvPr id="8" name="TextBox 8"/>
          <p:cNvSpPr txBox="1"/>
          <p:nvPr/>
        </p:nvSpPr>
        <p:spPr>
          <a:xfrm>
            <a:off x="17431021" y="9676442"/>
            <a:ext cx="152400" cy="190500"/>
          </a:xfrm>
          <a:prstGeom prst="rect">
            <a:avLst/>
          </a:prstGeom>
        </p:spPr>
        <p:txBody>
          <a:bodyPr wrap="none" lIns="0" tIns="0" rIns="0" bIns="0" rtlCol="0" anchor="t">
            <a:spAutoFit/>
          </a:bodyPr>
          <a:lstStyle/>
          <a:p>
            <a:pPr marL="0" lvl="0" indent="0" algn="r">
              <a:lnSpc>
                <a:spcPts val="1679"/>
              </a:lnSpc>
              <a:spcBef>
                <a:spcPct val="0"/>
              </a:spcBef>
            </a:pPr>
            <a:r>
              <a:rPr lang="en-US" sz="1200" b="1">
                <a:solidFill>
                  <a:srgbClr val="8C8781"/>
                </a:solidFill>
                <a:latin typeface="Telegraf Bold"/>
                <a:ea typeface="Telegraf Bold"/>
                <a:cs typeface="Telegraf Bold"/>
                <a:sym typeface="Telegraf Bold"/>
              </a:rPr>
              <a:t>6</a:t>
            </a:r>
          </a:p>
        </p:txBody>
      </p:sp>
      <p:graphicFrame>
        <p:nvGraphicFramePr>
          <p:cNvPr id="10" name="Content Placeholder 8">
            <a:extLst>
              <a:ext uri="{FF2B5EF4-FFF2-40B4-BE49-F238E27FC236}">
                <a16:creationId xmlns:a16="http://schemas.microsoft.com/office/drawing/2014/main" id="{3DCD2720-B38E-675A-4D6E-6FB3CED55428}"/>
              </a:ext>
            </a:extLst>
          </p:cNvPr>
          <p:cNvGraphicFramePr>
            <a:graphicFrameLocks/>
          </p:cNvGraphicFramePr>
          <p:nvPr>
            <p:extLst>
              <p:ext uri="{D42A27DB-BD31-4B8C-83A1-F6EECF244321}">
                <p14:modId xmlns:p14="http://schemas.microsoft.com/office/powerpoint/2010/main" val="2415568365"/>
              </p:ext>
            </p:extLst>
          </p:nvPr>
        </p:nvGraphicFramePr>
        <p:xfrm>
          <a:off x="666750" y="2701924"/>
          <a:ext cx="5448299" cy="594677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ontent Placeholder 8">
            <a:extLst>
              <a:ext uri="{FF2B5EF4-FFF2-40B4-BE49-F238E27FC236}">
                <a16:creationId xmlns:a16="http://schemas.microsoft.com/office/drawing/2014/main" id="{3C3A3812-7053-8904-3C4F-FCA788CAD762}"/>
              </a:ext>
            </a:extLst>
          </p:cNvPr>
          <p:cNvGraphicFramePr>
            <a:graphicFrameLocks/>
          </p:cNvGraphicFramePr>
          <p:nvPr>
            <p:extLst>
              <p:ext uri="{D42A27DB-BD31-4B8C-83A1-F6EECF244321}">
                <p14:modId xmlns:p14="http://schemas.microsoft.com/office/powerpoint/2010/main" val="1796326674"/>
              </p:ext>
            </p:extLst>
          </p:nvPr>
        </p:nvGraphicFramePr>
        <p:xfrm>
          <a:off x="6362700" y="2701924"/>
          <a:ext cx="5448299" cy="5946774"/>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970" y="647700"/>
            <a:ext cx="6867355" cy="1079500"/>
          </a:xfrm>
          <a:prstGeom prst="rect">
            <a:avLst/>
          </a:prstGeom>
        </p:spPr>
        <p:txBody>
          <a:bodyPr lIns="0" tIns="0" rIns="0" bIns="0" rtlCol="0" anchor="t">
            <a:spAutoFit/>
          </a:bodyPr>
          <a:lstStyle/>
          <a:p>
            <a:pPr marL="0" lvl="0" indent="0" algn="l">
              <a:lnSpc>
                <a:spcPts val="7700"/>
              </a:lnSpc>
            </a:pPr>
            <a:r>
              <a:rPr lang="en-US" sz="7000" b="1" u="none" strike="noStrike" spc="-70">
                <a:solidFill>
                  <a:srgbClr val="6B4F3C"/>
                </a:solidFill>
                <a:latin typeface="Telegraf Bold"/>
                <a:ea typeface="Telegraf Bold"/>
                <a:cs typeface="Telegraf Bold"/>
                <a:sym typeface="Telegraf Bold"/>
              </a:rPr>
              <a:t>Key Insights</a:t>
            </a:r>
          </a:p>
        </p:txBody>
      </p:sp>
      <p:grpSp>
        <p:nvGrpSpPr>
          <p:cNvPr id="3" name="Group 3"/>
          <p:cNvGrpSpPr/>
          <p:nvPr/>
        </p:nvGrpSpPr>
        <p:grpSpPr>
          <a:xfrm>
            <a:off x="9296400" y="666750"/>
            <a:ext cx="8324850" cy="1980396"/>
            <a:chOff x="0" y="0"/>
            <a:chExt cx="11099800" cy="2640528"/>
          </a:xfrm>
        </p:grpSpPr>
        <p:sp>
          <p:nvSpPr>
            <p:cNvPr id="4" name="TextBox 4"/>
            <p:cNvSpPr txBox="1"/>
            <p:nvPr/>
          </p:nvSpPr>
          <p:spPr>
            <a:xfrm>
              <a:off x="0" y="-9525"/>
              <a:ext cx="11099800" cy="605790"/>
            </a:xfrm>
            <a:prstGeom prst="rect">
              <a:avLst/>
            </a:prstGeom>
          </p:spPr>
          <p:txBody>
            <a:bodyPr lIns="0" tIns="0" rIns="0" bIns="0" rtlCol="0" anchor="t">
              <a:spAutoFit/>
            </a:bodyPr>
            <a:lstStyle/>
            <a:p>
              <a:pPr marL="0" lvl="0" indent="0" algn="l">
                <a:lnSpc>
                  <a:spcPts val="3258"/>
                </a:lnSpc>
              </a:pPr>
              <a:r>
                <a:rPr lang="en-US" sz="2962" b="1" spc="-29">
                  <a:solidFill>
                    <a:srgbClr val="6B4F3C"/>
                  </a:solidFill>
                  <a:latin typeface="Telegraf Bold"/>
                  <a:ea typeface="Telegraf Bold"/>
                  <a:cs typeface="Telegraf Bold"/>
                  <a:sym typeface="Telegraf Bold"/>
                </a:rPr>
                <a:t>Espresso Growth</a:t>
              </a:r>
            </a:p>
          </p:txBody>
        </p:sp>
        <p:sp>
          <p:nvSpPr>
            <p:cNvPr id="5" name="TextBox 5"/>
            <p:cNvSpPr txBox="1"/>
            <p:nvPr/>
          </p:nvSpPr>
          <p:spPr>
            <a:xfrm>
              <a:off x="0" y="752461"/>
              <a:ext cx="11099800" cy="1888067"/>
            </a:xfrm>
            <a:prstGeom prst="rect">
              <a:avLst/>
            </a:prstGeom>
          </p:spPr>
          <p:txBody>
            <a:bodyPr lIns="0" tIns="0" rIns="0" bIns="0" rtlCol="0" anchor="t">
              <a:spAutoFit/>
            </a:bodyPr>
            <a:lstStyle/>
            <a:p>
              <a:pPr marL="0" lvl="0" indent="0" algn="l">
                <a:lnSpc>
                  <a:spcPts val="2800"/>
                </a:lnSpc>
              </a:pPr>
              <a:r>
                <a:rPr lang="en-US" sz="2000" b="1">
                  <a:solidFill>
                    <a:srgbClr val="404040"/>
                  </a:solidFill>
                  <a:latin typeface="Telegraf Bold"/>
                  <a:ea typeface="Telegraf Bold"/>
                  <a:cs typeface="Telegraf Bold"/>
                  <a:sym typeface="Telegraf Bold"/>
                </a:rPr>
                <a:t>Espresso sales are consistently increasing</a:t>
              </a:r>
              <a:r>
                <a:rPr lang="en-US" sz="2000">
                  <a:solidFill>
                    <a:srgbClr val="404040"/>
                  </a:solidFill>
                  <a:latin typeface="Telegraf"/>
                  <a:ea typeface="Telegraf"/>
                  <a:cs typeface="Telegraf"/>
                  <a:sym typeface="Telegraf"/>
                </a:rPr>
                <a:t>, highlighting a strong customer preference. This trend suggests the opportunity to emphasize espresso-based promotions, potentially boosting overall revenue further.</a:t>
              </a:r>
            </a:p>
          </p:txBody>
        </p:sp>
      </p:grpSp>
      <p:grpSp>
        <p:nvGrpSpPr>
          <p:cNvPr id="6" name="Group 6"/>
          <p:cNvGrpSpPr/>
          <p:nvPr/>
        </p:nvGrpSpPr>
        <p:grpSpPr>
          <a:xfrm>
            <a:off x="9296400" y="2903617"/>
            <a:ext cx="8324850" cy="1627971"/>
            <a:chOff x="0" y="0"/>
            <a:chExt cx="11099800" cy="2170628"/>
          </a:xfrm>
        </p:grpSpPr>
        <p:sp>
          <p:nvSpPr>
            <p:cNvPr id="7" name="TextBox 7"/>
            <p:cNvSpPr txBox="1"/>
            <p:nvPr/>
          </p:nvSpPr>
          <p:spPr>
            <a:xfrm>
              <a:off x="0" y="-9525"/>
              <a:ext cx="11099800" cy="605790"/>
            </a:xfrm>
            <a:prstGeom prst="rect">
              <a:avLst/>
            </a:prstGeom>
          </p:spPr>
          <p:txBody>
            <a:bodyPr lIns="0" tIns="0" rIns="0" bIns="0" rtlCol="0" anchor="t">
              <a:spAutoFit/>
            </a:bodyPr>
            <a:lstStyle/>
            <a:p>
              <a:pPr marL="0" lvl="0" indent="0" algn="l">
                <a:lnSpc>
                  <a:spcPts val="3258"/>
                </a:lnSpc>
              </a:pPr>
              <a:r>
                <a:rPr lang="en-US" sz="2962" b="1" spc="-29">
                  <a:solidFill>
                    <a:srgbClr val="6B4F3C"/>
                  </a:solidFill>
                  <a:latin typeface="Telegraf Bold"/>
                  <a:ea typeface="Telegraf Bold"/>
                  <a:cs typeface="Telegraf Bold"/>
                  <a:sym typeface="Telegraf Bold"/>
                </a:rPr>
                <a:t>Pastry Lag</a:t>
              </a:r>
            </a:p>
          </p:txBody>
        </p:sp>
        <p:sp>
          <p:nvSpPr>
            <p:cNvPr id="8" name="TextBox 8"/>
            <p:cNvSpPr txBox="1"/>
            <p:nvPr/>
          </p:nvSpPr>
          <p:spPr>
            <a:xfrm>
              <a:off x="0" y="752461"/>
              <a:ext cx="11099800" cy="1418167"/>
            </a:xfrm>
            <a:prstGeom prst="rect">
              <a:avLst/>
            </a:prstGeom>
          </p:spPr>
          <p:txBody>
            <a:bodyPr lIns="0" tIns="0" rIns="0" bIns="0" rtlCol="0" anchor="t">
              <a:spAutoFit/>
            </a:bodyPr>
            <a:lstStyle/>
            <a:p>
              <a:pPr marL="0" lvl="0" indent="0" algn="l">
                <a:lnSpc>
                  <a:spcPts val="2800"/>
                </a:lnSpc>
              </a:pPr>
              <a:r>
                <a:rPr lang="en-US" sz="2000" b="1" spc="-20">
                  <a:solidFill>
                    <a:srgbClr val="404040"/>
                  </a:solidFill>
                  <a:latin typeface="Telegraf Bold"/>
                  <a:ea typeface="Telegraf Bold"/>
                  <a:cs typeface="Telegraf Bold"/>
                  <a:sym typeface="Telegraf Bold"/>
                </a:rPr>
                <a:t>Pastry sales are not performing</a:t>
              </a:r>
              <a:r>
                <a:rPr lang="en-US" sz="2000" spc="-20">
                  <a:solidFill>
                    <a:srgbClr val="404040"/>
                  </a:solidFill>
                  <a:latin typeface="Telegraf"/>
                  <a:ea typeface="Telegraf"/>
                  <a:cs typeface="Telegraf"/>
                  <a:sym typeface="Telegraf"/>
                </a:rPr>
                <a:t> as well as expected. This presents an opportunity to enhance marketing efforts or improve product offerings to attract more customers to this category.</a:t>
              </a:r>
            </a:p>
          </p:txBody>
        </p:sp>
      </p:grpSp>
      <p:grpSp>
        <p:nvGrpSpPr>
          <p:cNvPr id="9" name="Group 9"/>
          <p:cNvGrpSpPr/>
          <p:nvPr/>
        </p:nvGrpSpPr>
        <p:grpSpPr>
          <a:xfrm>
            <a:off x="9296400" y="5140484"/>
            <a:ext cx="8324850" cy="1627971"/>
            <a:chOff x="0" y="0"/>
            <a:chExt cx="11099800" cy="2170628"/>
          </a:xfrm>
        </p:grpSpPr>
        <p:sp>
          <p:nvSpPr>
            <p:cNvPr id="10" name="TextBox 10"/>
            <p:cNvSpPr txBox="1"/>
            <p:nvPr/>
          </p:nvSpPr>
          <p:spPr>
            <a:xfrm>
              <a:off x="0" y="-9525"/>
              <a:ext cx="11099800" cy="605790"/>
            </a:xfrm>
            <a:prstGeom prst="rect">
              <a:avLst/>
            </a:prstGeom>
          </p:spPr>
          <p:txBody>
            <a:bodyPr lIns="0" tIns="0" rIns="0" bIns="0" rtlCol="0" anchor="t">
              <a:spAutoFit/>
            </a:bodyPr>
            <a:lstStyle/>
            <a:p>
              <a:pPr marL="0" lvl="0" indent="0" algn="l">
                <a:lnSpc>
                  <a:spcPts val="3258"/>
                </a:lnSpc>
              </a:pPr>
              <a:r>
                <a:rPr lang="en-US" sz="2962" b="1" spc="-29">
                  <a:solidFill>
                    <a:srgbClr val="6B4F3C"/>
                  </a:solidFill>
                  <a:latin typeface="Telegraf Bold"/>
                  <a:ea typeface="Telegraf Bold"/>
                  <a:cs typeface="Telegraf Bold"/>
                  <a:sym typeface="Telegraf Bold"/>
                </a:rPr>
                <a:t>Weekend Opportunities</a:t>
              </a:r>
            </a:p>
          </p:txBody>
        </p:sp>
        <p:sp>
          <p:nvSpPr>
            <p:cNvPr id="11" name="TextBox 11"/>
            <p:cNvSpPr txBox="1"/>
            <p:nvPr/>
          </p:nvSpPr>
          <p:spPr>
            <a:xfrm>
              <a:off x="0" y="752461"/>
              <a:ext cx="11099800" cy="1418167"/>
            </a:xfrm>
            <a:prstGeom prst="rect">
              <a:avLst/>
            </a:prstGeom>
          </p:spPr>
          <p:txBody>
            <a:bodyPr lIns="0" tIns="0" rIns="0" bIns="0" rtlCol="0" anchor="t">
              <a:spAutoFit/>
            </a:bodyPr>
            <a:lstStyle/>
            <a:p>
              <a:pPr marL="0" lvl="0" indent="0" algn="l">
                <a:lnSpc>
                  <a:spcPts val="2800"/>
                </a:lnSpc>
              </a:pPr>
              <a:r>
                <a:rPr lang="en-US" sz="2000" b="1" spc="-20">
                  <a:solidFill>
                    <a:srgbClr val="404040"/>
                  </a:solidFill>
                  <a:latin typeface="Telegraf Bold"/>
                  <a:ea typeface="Telegraf Bold"/>
                  <a:cs typeface="Telegraf Bold"/>
                  <a:sym typeface="Telegraf Bold"/>
                </a:rPr>
                <a:t>Weekend foot traffic spikes</a:t>
              </a:r>
              <a:r>
                <a:rPr lang="en-US" sz="2000" spc="-20">
                  <a:solidFill>
                    <a:srgbClr val="404040"/>
                  </a:solidFill>
                  <a:latin typeface="Telegraf"/>
                  <a:ea typeface="Telegraf"/>
                  <a:cs typeface="Telegraf"/>
                  <a:sym typeface="Telegraf"/>
                </a:rPr>
                <a:t> indicate potential for targeted promotions. Leveraging these busy times can maximize sales and customer engagement, ensuring a profitable weekend experience.</a:t>
              </a:r>
            </a:p>
          </p:txBody>
        </p:sp>
      </p:grpSp>
      <p:grpSp>
        <p:nvGrpSpPr>
          <p:cNvPr id="12" name="Group 12"/>
          <p:cNvGrpSpPr/>
          <p:nvPr/>
        </p:nvGrpSpPr>
        <p:grpSpPr>
          <a:xfrm>
            <a:off x="9296400" y="7377351"/>
            <a:ext cx="8324850" cy="1628447"/>
            <a:chOff x="0" y="0"/>
            <a:chExt cx="11099800" cy="2171263"/>
          </a:xfrm>
        </p:grpSpPr>
        <p:sp>
          <p:nvSpPr>
            <p:cNvPr id="13" name="TextBox 13"/>
            <p:cNvSpPr txBox="1"/>
            <p:nvPr/>
          </p:nvSpPr>
          <p:spPr>
            <a:xfrm>
              <a:off x="0" y="-38100"/>
              <a:ext cx="11099800" cy="635000"/>
            </a:xfrm>
            <a:prstGeom prst="rect">
              <a:avLst/>
            </a:prstGeom>
          </p:spPr>
          <p:txBody>
            <a:bodyPr lIns="0" tIns="0" rIns="0" bIns="0" rtlCol="0" anchor="t">
              <a:spAutoFit/>
            </a:bodyPr>
            <a:lstStyle/>
            <a:p>
              <a:pPr marL="0" lvl="0" indent="0" algn="l">
                <a:lnSpc>
                  <a:spcPts val="3554"/>
                </a:lnSpc>
              </a:pPr>
              <a:r>
                <a:rPr lang="en-US" sz="2962" b="1" spc="-29">
                  <a:solidFill>
                    <a:srgbClr val="6B4F3C"/>
                  </a:solidFill>
                  <a:latin typeface="Telegraf Bold"/>
                  <a:ea typeface="Telegraf Bold"/>
                  <a:cs typeface="Telegraf Bold"/>
                  <a:sym typeface="Telegraf Bold"/>
                </a:rPr>
                <a:t>Supplier Costs</a:t>
              </a:r>
            </a:p>
          </p:txBody>
        </p:sp>
        <p:sp>
          <p:nvSpPr>
            <p:cNvPr id="14" name="TextBox 14"/>
            <p:cNvSpPr txBox="1"/>
            <p:nvPr/>
          </p:nvSpPr>
          <p:spPr>
            <a:xfrm>
              <a:off x="0" y="753096"/>
              <a:ext cx="11099800" cy="1418167"/>
            </a:xfrm>
            <a:prstGeom prst="rect">
              <a:avLst/>
            </a:prstGeom>
          </p:spPr>
          <p:txBody>
            <a:bodyPr lIns="0" tIns="0" rIns="0" bIns="0" rtlCol="0" anchor="t">
              <a:spAutoFit/>
            </a:bodyPr>
            <a:lstStyle/>
            <a:p>
              <a:pPr marL="0" lvl="0" indent="0" algn="l">
                <a:lnSpc>
                  <a:spcPts val="2800"/>
                </a:lnSpc>
              </a:pPr>
              <a:r>
                <a:rPr lang="en-US" sz="2000" b="1">
                  <a:solidFill>
                    <a:srgbClr val="404040"/>
                  </a:solidFill>
                  <a:latin typeface="Telegraf Bold"/>
                  <a:ea typeface="Telegraf Bold"/>
                  <a:cs typeface="Telegraf Bold"/>
                  <a:sym typeface="Telegraf Bold"/>
                </a:rPr>
                <a:t>High supplier costs in dairy items</a:t>
              </a:r>
              <a:r>
                <a:rPr lang="en-US" sz="2000">
                  <a:solidFill>
                    <a:srgbClr val="404040"/>
                  </a:solidFill>
                  <a:latin typeface="Telegraf"/>
                  <a:ea typeface="Telegraf"/>
                  <a:cs typeface="Telegraf"/>
                  <a:sym typeface="Telegraf"/>
                </a:rPr>
                <a:t> are impacting profit margins. Negotiating with suppliers or seeking alternative sources could lead to better pricing and enhanced financial performance.</a:t>
              </a:r>
            </a:p>
          </p:txBody>
        </p:sp>
      </p:grpSp>
      <p:sp>
        <p:nvSpPr>
          <p:cNvPr id="15" name="AutoShape 15"/>
          <p:cNvSpPr/>
          <p:nvPr/>
        </p:nvSpPr>
        <p:spPr>
          <a:xfrm>
            <a:off x="666750" y="9620250"/>
            <a:ext cx="16954500" cy="0"/>
          </a:xfrm>
          <a:prstGeom prst="line">
            <a:avLst/>
          </a:prstGeom>
          <a:ln w="9525" cap="flat">
            <a:solidFill>
              <a:srgbClr val="6B4F3C"/>
            </a:solidFill>
            <a:prstDash val="solid"/>
            <a:headEnd type="none" w="sm" len="sm"/>
            <a:tailEnd type="none" w="sm" len="sm"/>
          </a:ln>
        </p:spPr>
      </p:sp>
      <p:sp>
        <p:nvSpPr>
          <p:cNvPr id="16" name="TextBox 16"/>
          <p:cNvSpPr txBox="1"/>
          <p:nvPr/>
        </p:nvSpPr>
        <p:spPr>
          <a:xfrm>
            <a:off x="666750" y="9676455"/>
            <a:ext cx="2571750" cy="217170"/>
          </a:xfrm>
          <a:prstGeom prst="rect">
            <a:avLst/>
          </a:prstGeom>
        </p:spPr>
        <p:txBody>
          <a:bodyPr lIns="0" tIns="0" rIns="0" bIns="0" rtlCol="0" anchor="t">
            <a:spAutoFit/>
          </a:bodyPr>
          <a:lstStyle/>
          <a:p>
            <a:pPr marL="0" lvl="0" indent="0" algn="l">
              <a:lnSpc>
                <a:spcPts val="1679"/>
              </a:lnSpc>
              <a:spcBef>
                <a:spcPct val="0"/>
              </a:spcBef>
            </a:pPr>
            <a:r>
              <a:rPr lang="en-US" sz="1200" b="1" spc="-12">
                <a:solidFill>
                  <a:srgbClr val="404040"/>
                </a:solidFill>
                <a:latin typeface="Telegraf Bold"/>
                <a:ea typeface="Telegraf Bold"/>
                <a:cs typeface="Telegraf Bold"/>
                <a:sym typeface="Telegraf Bold"/>
              </a:rPr>
              <a:t>ADDITIONAL NOTES</a:t>
            </a:r>
          </a:p>
        </p:txBody>
      </p:sp>
      <p:sp>
        <p:nvSpPr>
          <p:cNvPr id="17" name="TextBox 17"/>
          <p:cNvSpPr txBox="1"/>
          <p:nvPr/>
        </p:nvSpPr>
        <p:spPr>
          <a:xfrm>
            <a:off x="17438665" y="9676442"/>
            <a:ext cx="152400" cy="190500"/>
          </a:xfrm>
          <a:prstGeom prst="rect">
            <a:avLst/>
          </a:prstGeom>
        </p:spPr>
        <p:txBody>
          <a:bodyPr wrap="none" lIns="0" tIns="0" rIns="0" bIns="0" rtlCol="0" anchor="t">
            <a:spAutoFit/>
          </a:bodyPr>
          <a:lstStyle/>
          <a:p>
            <a:pPr marL="0" lvl="0" indent="0" algn="r">
              <a:lnSpc>
                <a:spcPts val="1679"/>
              </a:lnSpc>
              <a:spcBef>
                <a:spcPct val="0"/>
              </a:spcBef>
            </a:pPr>
            <a:r>
              <a:rPr lang="en-US" sz="1200" b="1">
                <a:solidFill>
                  <a:srgbClr val="404040"/>
                </a:solidFill>
                <a:latin typeface="Telegraf Bold"/>
                <a:ea typeface="Telegraf Bold"/>
                <a:cs typeface="Telegraf Bold"/>
                <a:sym typeface="Telegraf Bold"/>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3F0"/>
        </a:solidFill>
        <a:effectLst/>
      </p:bgPr>
    </p:bg>
    <p:spTree>
      <p:nvGrpSpPr>
        <p:cNvPr id="1" name=""/>
        <p:cNvGrpSpPr/>
        <p:nvPr/>
      </p:nvGrpSpPr>
      <p:grpSpPr>
        <a:xfrm>
          <a:off x="0" y="0"/>
          <a:ext cx="0" cy="0"/>
          <a:chOff x="0" y="0"/>
          <a:chExt cx="0" cy="0"/>
        </a:xfrm>
      </p:grpSpPr>
      <p:sp>
        <p:nvSpPr>
          <p:cNvPr id="2" name="TextBox 2"/>
          <p:cNvSpPr txBox="1"/>
          <p:nvPr/>
        </p:nvSpPr>
        <p:spPr>
          <a:xfrm>
            <a:off x="685970" y="657225"/>
            <a:ext cx="6867355" cy="1723073"/>
          </a:xfrm>
          <a:prstGeom prst="rect">
            <a:avLst/>
          </a:prstGeom>
        </p:spPr>
        <p:txBody>
          <a:bodyPr lIns="0" tIns="0" rIns="0" bIns="0" rtlCol="0" anchor="t">
            <a:spAutoFit/>
          </a:bodyPr>
          <a:lstStyle/>
          <a:p>
            <a:pPr marL="0" lvl="0" indent="0" algn="l">
              <a:lnSpc>
                <a:spcPts val="6517"/>
              </a:lnSpc>
            </a:pPr>
            <a:r>
              <a:rPr lang="en-US" sz="5925" b="1" u="none" strike="noStrike" spc="-59">
                <a:solidFill>
                  <a:srgbClr val="6B4F3C"/>
                </a:solidFill>
                <a:latin typeface="Telegraf Bold"/>
                <a:ea typeface="Telegraf Bold"/>
                <a:cs typeface="Telegraf Bold"/>
                <a:sym typeface="Telegraf Bold"/>
              </a:rPr>
              <a:t>Recommendations for Growth</a:t>
            </a:r>
          </a:p>
        </p:txBody>
      </p:sp>
      <p:grpSp>
        <p:nvGrpSpPr>
          <p:cNvPr id="3" name="Group 3"/>
          <p:cNvGrpSpPr/>
          <p:nvPr/>
        </p:nvGrpSpPr>
        <p:grpSpPr>
          <a:xfrm>
            <a:off x="9296400" y="666750"/>
            <a:ext cx="8324850" cy="1627971"/>
            <a:chOff x="0" y="0"/>
            <a:chExt cx="11099800" cy="2170628"/>
          </a:xfrm>
        </p:grpSpPr>
        <p:sp>
          <p:nvSpPr>
            <p:cNvPr id="4" name="TextBox 4"/>
            <p:cNvSpPr txBox="1"/>
            <p:nvPr/>
          </p:nvSpPr>
          <p:spPr>
            <a:xfrm>
              <a:off x="0" y="-9525"/>
              <a:ext cx="11099800" cy="605790"/>
            </a:xfrm>
            <a:prstGeom prst="rect">
              <a:avLst/>
            </a:prstGeom>
          </p:spPr>
          <p:txBody>
            <a:bodyPr lIns="0" tIns="0" rIns="0" bIns="0" rtlCol="0" anchor="t">
              <a:spAutoFit/>
            </a:bodyPr>
            <a:lstStyle/>
            <a:p>
              <a:pPr marL="0" lvl="0" indent="0" algn="l">
                <a:lnSpc>
                  <a:spcPts val="3258"/>
                </a:lnSpc>
              </a:pPr>
              <a:r>
                <a:rPr lang="en-US" sz="2962" b="1" spc="-29">
                  <a:solidFill>
                    <a:srgbClr val="6B4F3C"/>
                  </a:solidFill>
                  <a:latin typeface="Telegraf Bold"/>
                  <a:ea typeface="Telegraf Bold"/>
                  <a:cs typeface="Telegraf Bold"/>
                  <a:sym typeface="Telegraf Bold"/>
                </a:rPr>
                <a:t>Product Expansion</a:t>
              </a:r>
            </a:p>
          </p:txBody>
        </p:sp>
        <p:sp>
          <p:nvSpPr>
            <p:cNvPr id="5" name="TextBox 5"/>
            <p:cNvSpPr txBox="1"/>
            <p:nvPr/>
          </p:nvSpPr>
          <p:spPr>
            <a:xfrm>
              <a:off x="0" y="752461"/>
              <a:ext cx="11099800" cy="1418167"/>
            </a:xfrm>
            <a:prstGeom prst="rect">
              <a:avLst/>
            </a:prstGeom>
          </p:spPr>
          <p:txBody>
            <a:bodyPr lIns="0" tIns="0" rIns="0" bIns="0" rtlCol="0" anchor="t">
              <a:spAutoFit/>
            </a:bodyPr>
            <a:lstStyle/>
            <a:p>
              <a:pPr marL="0" lvl="0" indent="0" algn="l">
                <a:lnSpc>
                  <a:spcPts val="2800"/>
                </a:lnSpc>
              </a:pPr>
              <a:r>
                <a:rPr lang="en-US" sz="2000">
                  <a:solidFill>
                    <a:srgbClr val="404040"/>
                  </a:solidFill>
                  <a:latin typeface="Telegraf"/>
                  <a:ea typeface="Telegraf"/>
                  <a:cs typeface="Telegraf"/>
                  <a:sym typeface="Telegraf"/>
                </a:rPr>
                <a:t>Introduce seasonal beverages and pastries to broaden the menu, catering to customer preferences while leveraging trending items that can enhance brand appeal and attract new customers.</a:t>
              </a:r>
            </a:p>
          </p:txBody>
        </p:sp>
      </p:grpSp>
      <p:grpSp>
        <p:nvGrpSpPr>
          <p:cNvPr id="6" name="Group 6"/>
          <p:cNvGrpSpPr/>
          <p:nvPr/>
        </p:nvGrpSpPr>
        <p:grpSpPr>
          <a:xfrm>
            <a:off x="9296400" y="2903617"/>
            <a:ext cx="8324850" cy="1627971"/>
            <a:chOff x="0" y="0"/>
            <a:chExt cx="11099800" cy="2170628"/>
          </a:xfrm>
        </p:grpSpPr>
        <p:sp>
          <p:nvSpPr>
            <p:cNvPr id="7" name="TextBox 7"/>
            <p:cNvSpPr txBox="1"/>
            <p:nvPr/>
          </p:nvSpPr>
          <p:spPr>
            <a:xfrm>
              <a:off x="0" y="-9525"/>
              <a:ext cx="11099800" cy="605790"/>
            </a:xfrm>
            <a:prstGeom prst="rect">
              <a:avLst/>
            </a:prstGeom>
          </p:spPr>
          <p:txBody>
            <a:bodyPr lIns="0" tIns="0" rIns="0" bIns="0" rtlCol="0" anchor="t">
              <a:spAutoFit/>
            </a:bodyPr>
            <a:lstStyle/>
            <a:p>
              <a:pPr marL="0" lvl="0" indent="0" algn="l">
                <a:lnSpc>
                  <a:spcPts val="3258"/>
                </a:lnSpc>
              </a:pPr>
              <a:r>
                <a:rPr lang="en-US" sz="2962" b="1" spc="-29">
                  <a:solidFill>
                    <a:srgbClr val="6B4F3C"/>
                  </a:solidFill>
                  <a:latin typeface="Telegraf Bold"/>
                  <a:ea typeface="Telegraf Bold"/>
                  <a:cs typeface="Telegraf Bold"/>
                  <a:sym typeface="Telegraf Bold"/>
                </a:rPr>
                <a:t>Targeted Promotions</a:t>
              </a:r>
            </a:p>
          </p:txBody>
        </p:sp>
        <p:sp>
          <p:nvSpPr>
            <p:cNvPr id="8" name="TextBox 8"/>
            <p:cNvSpPr txBox="1"/>
            <p:nvPr/>
          </p:nvSpPr>
          <p:spPr>
            <a:xfrm>
              <a:off x="0" y="752461"/>
              <a:ext cx="11099800" cy="1418167"/>
            </a:xfrm>
            <a:prstGeom prst="rect">
              <a:avLst/>
            </a:prstGeom>
          </p:spPr>
          <p:txBody>
            <a:bodyPr lIns="0" tIns="0" rIns="0" bIns="0" rtlCol="0" anchor="t">
              <a:spAutoFit/>
            </a:bodyPr>
            <a:lstStyle/>
            <a:p>
              <a:pPr marL="0" lvl="0" indent="0" algn="l">
                <a:lnSpc>
                  <a:spcPts val="2800"/>
                </a:lnSpc>
              </a:pPr>
              <a:r>
                <a:rPr lang="en-US" sz="2000" spc="-20">
                  <a:solidFill>
                    <a:srgbClr val="404040"/>
                  </a:solidFill>
                  <a:latin typeface="Telegraf"/>
                  <a:ea typeface="Telegraf"/>
                  <a:cs typeface="Telegraf"/>
                  <a:sym typeface="Telegraf"/>
                </a:rPr>
                <a:t>Implement marketing campaigns focused on weekends and peak hours, utilizing social media and local ads to draw in foot traffic and engage existing customers effectively.</a:t>
              </a:r>
            </a:p>
          </p:txBody>
        </p:sp>
      </p:grpSp>
      <p:grpSp>
        <p:nvGrpSpPr>
          <p:cNvPr id="9" name="Group 9"/>
          <p:cNvGrpSpPr/>
          <p:nvPr/>
        </p:nvGrpSpPr>
        <p:grpSpPr>
          <a:xfrm>
            <a:off x="9296400" y="5140484"/>
            <a:ext cx="8324850" cy="1980396"/>
            <a:chOff x="0" y="0"/>
            <a:chExt cx="11099800" cy="2640528"/>
          </a:xfrm>
        </p:grpSpPr>
        <p:sp>
          <p:nvSpPr>
            <p:cNvPr id="10" name="TextBox 10"/>
            <p:cNvSpPr txBox="1"/>
            <p:nvPr/>
          </p:nvSpPr>
          <p:spPr>
            <a:xfrm>
              <a:off x="0" y="-9525"/>
              <a:ext cx="11099800" cy="605790"/>
            </a:xfrm>
            <a:prstGeom prst="rect">
              <a:avLst/>
            </a:prstGeom>
          </p:spPr>
          <p:txBody>
            <a:bodyPr lIns="0" tIns="0" rIns="0" bIns="0" rtlCol="0" anchor="t">
              <a:spAutoFit/>
            </a:bodyPr>
            <a:lstStyle/>
            <a:p>
              <a:pPr marL="0" lvl="0" indent="0" algn="l">
                <a:lnSpc>
                  <a:spcPts val="3258"/>
                </a:lnSpc>
              </a:pPr>
              <a:r>
                <a:rPr lang="en-US" sz="2962" b="1" spc="-29">
                  <a:solidFill>
                    <a:srgbClr val="6B4F3C"/>
                  </a:solidFill>
                  <a:latin typeface="Telegraf Bold"/>
                  <a:ea typeface="Telegraf Bold"/>
                  <a:cs typeface="Telegraf Bold"/>
                  <a:sym typeface="Telegraf Bold"/>
                </a:rPr>
                <a:t>Customer Feedback</a:t>
              </a:r>
            </a:p>
          </p:txBody>
        </p:sp>
        <p:sp>
          <p:nvSpPr>
            <p:cNvPr id="11" name="TextBox 11"/>
            <p:cNvSpPr txBox="1"/>
            <p:nvPr/>
          </p:nvSpPr>
          <p:spPr>
            <a:xfrm>
              <a:off x="0" y="752461"/>
              <a:ext cx="11099800" cy="1888067"/>
            </a:xfrm>
            <a:prstGeom prst="rect">
              <a:avLst/>
            </a:prstGeom>
          </p:spPr>
          <p:txBody>
            <a:bodyPr lIns="0" tIns="0" rIns="0" bIns="0" rtlCol="0" anchor="t">
              <a:spAutoFit/>
            </a:bodyPr>
            <a:lstStyle/>
            <a:p>
              <a:pPr marL="0" lvl="0" indent="0" algn="l">
                <a:lnSpc>
                  <a:spcPts val="2800"/>
                </a:lnSpc>
              </a:pPr>
              <a:r>
                <a:rPr lang="en-US" sz="2000" spc="-20">
                  <a:solidFill>
                    <a:srgbClr val="404040"/>
                  </a:solidFill>
                  <a:latin typeface="Telegraf"/>
                  <a:ea typeface="Telegraf"/>
                  <a:cs typeface="Telegraf"/>
                  <a:sym typeface="Telegraf"/>
                </a:rPr>
                <a:t>Regularly gather customer insights through surveys to identify preferences and areas for improvement, ensuring the coffee shop remains aligned with evolving market trends and consumer expectations.</a:t>
              </a:r>
            </a:p>
          </p:txBody>
        </p:sp>
      </p:grpSp>
      <p:grpSp>
        <p:nvGrpSpPr>
          <p:cNvPr id="12" name="Group 12"/>
          <p:cNvGrpSpPr/>
          <p:nvPr/>
        </p:nvGrpSpPr>
        <p:grpSpPr>
          <a:xfrm>
            <a:off x="9296400" y="7377351"/>
            <a:ext cx="8324850" cy="1628447"/>
            <a:chOff x="0" y="0"/>
            <a:chExt cx="11099800" cy="2171263"/>
          </a:xfrm>
        </p:grpSpPr>
        <p:sp>
          <p:nvSpPr>
            <p:cNvPr id="13" name="TextBox 13"/>
            <p:cNvSpPr txBox="1"/>
            <p:nvPr/>
          </p:nvSpPr>
          <p:spPr>
            <a:xfrm>
              <a:off x="0" y="-38100"/>
              <a:ext cx="11099800" cy="635000"/>
            </a:xfrm>
            <a:prstGeom prst="rect">
              <a:avLst/>
            </a:prstGeom>
          </p:spPr>
          <p:txBody>
            <a:bodyPr lIns="0" tIns="0" rIns="0" bIns="0" rtlCol="0" anchor="t">
              <a:spAutoFit/>
            </a:bodyPr>
            <a:lstStyle/>
            <a:p>
              <a:pPr marL="0" lvl="0" indent="0" algn="l">
                <a:lnSpc>
                  <a:spcPts val="3554"/>
                </a:lnSpc>
              </a:pPr>
              <a:r>
                <a:rPr lang="en-US" sz="2962" b="1" spc="-29">
                  <a:solidFill>
                    <a:srgbClr val="6B4F3C"/>
                  </a:solidFill>
                  <a:latin typeface="Telegraf Bold"/>
                  <a:ea typeface="Telegraf Bold"/>
                  <a:cs typeface="Telegraf Bold"/>
                  <a:sym typeface="Telegraf Bold"/>
                </a:rPr>
                <a:t>Loyalty Programs</a:t>
              </a:r>
            </a:p>
          </p:txBody>
        </p:sp>
        <p:sp>
          <p:nvSpPr>
            <p:cNvPr id="14" name="TextBox 14"/>
            <p:cNvSpPr txBox="1"/>
            <p:nvPr/>
          </p:nvSpPr>
          <p:spPr>
            <a:xfrm>
              <a:off x="0" y="753096"/>
              <a:ext cx="11099800" cy="1418167"/>
            </a:xfrm>
            <a:prstGeom prst="rect">
              <a:avLst/>
            </a:prstGeom>
          </p:spPr>
          <p:txBody>
            <a:bodyPr lIns="0" tIns="0" rIns="0" bIns="0" rtlCol="0" anchor="t">
              <a:spAutoFit/>
            </a:bodyPr>
            <a:lstStyle/>
            <a:p>
              <a:pPr marL="0" lvl="0" indent="0" algn="l">
                <a:lnSpc>
                  <a:spcPts val="2800"/>
                </a:lnSpc>
              </a:pPr>
              <a:r>
                <a:rPr lang="en-US" sz="2000">
                  <a:solidFill>
                    <a:srgbClr val="404040"/>
                  </a:solidFill>
                  <a:latin typeface="Telegraf"/>
                  <a:ea typeface="Telegraf"/>
                  <a:cs typeface="Telegraf"/>
                  <a:sym typeface="Telegraf"/>
                </a:rPr>
                <a:t>Enhance the existing loyalty program by offering exclusive discounts or rewards, incentivizing repeat purchases and fostering a loyal customer base that feels valued and appreciated.</a:t>
              </a:r>
            </a:p>
          </p:txBody>
        </p:sp>
      </p:grpSp>
      <p:sp>
        <p:nvSpPr>
          <p:cNvPr id="15" name="AutoShape 15"/>
          <p:cNvSpPr/>
          <p:nvPr/>
        </p:nvSpPr>
        <p:spPr>
          <a:xfrm>
            <a:off x="666750" y="9620250"/>
            <a:ext cx="16954500" cy="0"/>
          </a:xfrm>
          <a:prstGeom prst="line">
            <a:avLst/>
          </a:prstGeom>
          <a:ln w="9525" cap="flat">
            <a:solidFill>
              <a:srgbClr val="6B4F3C"/>
            </a:solidFill>
            <a:prstDash val="solid"/>
            <a:headEnd type="none" w="sm" len="sm"/>
            <a:tailEnd type="none" w="sm" len="sm"/>
          </a:ln>
        </p:spPr>
      </p:sp>
      <p:sp>
        <p:nvSpPr>
          <p:cNvPr id="16" name="TextBox 16"/>
          <p:cNvSpPr txBox="1"/>
          <p:nvPr/>
        </p:nvSpPr>
        <p:spPr>
          <a:xfrm>
            <a:off x="666750" y="9676455"/>
            <a:ext cx="2571750" cy="217170"/>
          </a:xfrm>
          <a:prstGeom prst="rect">
            <a:avLst/>
          </a:prstGeom>
        </p:spPr>
        <p:txBody>
          <a:bodyPr lIns="0" tIns="0" rIns="0" bIns="0" rtlCol="0" anchor="t">
            <a:spAutoFit/>
          </a:bodyPr>
          <a:lstStyle/>
          <a:p>
            <a:pPr marL="0" lvl="0" indent="0" algn="l">
              <a:lnSpc>
                <a:spcPts val="1679"/>
              </a:lnSpc>
              <a:spcBef>
                <a:spcPct val="0"/>
              </a:spcBef>
            </a:pPr>
            <a:r>
              <a:rPr lang="en-US" sz="1200" b="1" spc="-12">
                <a:solidFill>
                  <a:srgbClr val="404040"/>
                </a:solidFill>
                <a:latin typeface="Telegraf Bold"/>
                <a:ea typeface="Telegraf Bold"/>
                <a:cs typeface="Telegraf Bold"/>
                <a:sym typeface="Telegraf Bold"/>
              </a:rPr>
              <a:t>STRATEGIC FOCUS AREAS</a:t>
            </a:r>
          </a:p>
        </p:txBody>
      </p:sp>
      <p:sp>
        <p:nvSpPr>
          <p:cNvPr id="17" name="TextBox 17"/>
          <p:cNvSpPr txBox="1"/>
          <p:nvPr/>
        </p:nvSpPr>
        <p:spPr>
          <a:xfrm>
            <a:off x="17438665" y="9676442"/>
            <a:ext cx="152400" cy="190500"/>
          </a:xfrm>
          <a:prstGeom prst="rect">
            <a:avLst/>
          </a:prstGeom>
        </p:spPr>
        <p:txBody>
          <a:bodyPr wrap="none" lIns="0" tIns="0" rIns="0" bIns="0" rtlCol="0" anchor="t">
            <a:spAutoFit/>
          </a:bodyPr>
          <a:lstStyle/>
          <a:p>
            <a:pPr marL="0" lvl="0" indent="0" algn="r">
              <a:lnSpc>
                <a:spcPts val="1679"/>
              </a:lnSpc>
              <a:spcBef>
                <a:spcPct val="0"/>
              </a:spcBef>
            </a:pPr>
            <a:r>
              <a:rPr lang="en-US" sz="1200" b="1">
                <a:solidFill>
                  <a:srgbClr val="404040"/>
                </a:solidFill>
                <a:latin typeface="Telegraf Bold"/>
                <a:ea typeface="Telegraf Bold"/>
                <a:cs typeface="Telegraf Bold"/>
                <a:sym typeface="Telegraf Bold"/>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970" y="647700"/>
            <a:ext cx="6867355" cy="2051050"/>
          </a:xfrm>
          <a:prstGeom prst="rect">
            <a:avLst/>
          </a:prstGeom>
        </p:spPr>
        <p:txBody>
          <a:bodyPr lIns="0" tIns="0" rIns="0" bIns="0" rtlCol="0" anchor="t">
            <a:spAutoFit/>
          </a:bodyPr>
          <a:lstStyle/>
          <a:p>
            <a:pPr marL="0" lvl="0" indent="0" algn="l">
              <a:lnSpc>
                <a:spcPts val="7700"/>
              </a:lnSpc>
            </a:pPr>
            <a:r>
              <a:rPr lang="en-US" sz="7000" b="1" u="none" strike="noStrike" spc="-70">
                <a:solidFill>
                  <a:srgbClr val="6B4F3C"/>
                </a:solidFill>
                <a:latin typeface="Telegraf Bold"/>
                <a:ea typeface="Telegraf Bold"/>
                <a:cs typeface="Telegraf Bold"/>
                <a:sym typeface="Telegraf Bold"/>
              </a:rPr>
              <a:t>Cost Reduction Strategies</a:t>
            </a:r>
          </a:p>
        </p:txBody>
      </p:sp>
      <p:grpSp>
        <p:nvGrpSpPr>
          <p:cNvPr id="3" name="Group 3"/>
          <p:cNvGrpSpPr/>
          <p:nvPr/>
        </p:nvGrpSpPr>
        <p:grpSpPr>
          <a:xfrm>
            <a:off x="9296400" y="666750"/>
            <a:ext cx="8324850" cy="1637972"/>
            <a:chOff x="0" y="0"/>
            <a:chExt cx="11099800" cy="2183963"/>
          </a:xfrm>
        </p:grpSpPr>
        <p:sp>
          <p:nvSpPr>
            <p:cNvPr id="4" name="TextBox 4"/>
            <p:cNvSpPr txBox="1"/>
            <p:nvPr/>
          </p:nvSpPr>
          <p:spPr>
            <a:xfrm>
              <a:off x="0" y="-19050"/>
              <a:ext cx="11099800" cy="628650"/>
            </a:xfrm>
            <a:prstGeom prst="rect">
              <a:avLst/>
            </a:prstGeom>
          </p:spPr>
          <p:txBody>
            <a:bodyPr lIns="0" tIns="0" rIns="0" bIns="0" rtlCol="0" anchor="t">
              <a:spAutoFit/>
            </a:bodyPr>
            <a:lstStyle/>
            <a:p>
              <a:pPr marL="0" lvl="0" indent="0" algn="l">
                <a:lnSpc>
                  <a:spcPts val="3300"/>
                </a:lnSpc>
              </a:pPr>
              <a:r>
                <a:rPr lang="en-US" sz="3000" b="1" spc="-30">
                  <a:solidFill>
                    <a:srgbClr val="6B4F3C"/>
                  </a:solidFill>
                  <a:latin typeface="Telegraf Bold"/>
                  <a:ea typeface="Telegraf Bold"/>
                  <a:cs typeface="Telegraf Bold"/>
                  <a:sym typeface="Telegraf Bold"/>
                </a:rPr>
                <a:t>Supplier Negotiations</a:t>
              </a:r>
            </a:p>
          </p:txBody>
        </p:sp>
        <p:sp>
          <p:nvSpPr>
            <p:cNvPr id="5" name="TextBox 5"/>
            <p:cNvSpPr txBox="1"/>
            <p:nvPr/>
          </p:nvSpPr>
          <p:spPr>
            <a:xfrm>
              <a:off x="0" y="765796"/>
              <a:ext cx="11099800" cy="1418167"/>
            </a:xfrm>
            <a:prstGeom prst="rect">
              <a:avLst/>
            </a:prstGeom>
          </p:spPr>
          <p:txBody>
            <a:bodyPr lIns="0" tIns="0" rIns="0" bIns="0" rtlCol="0" anchor="t">
              <a:spAutoFit/>
            </a:bodyPr>
            <a:lstStyle/>
            <a:p>
              <a:pPr marL="0" lvl="0" indent="0" algn="l">
                <a:lnSpc>
                  <a:spcPts val="2800"/>
                </a:lnSpc>
              </a:pPr>
              <a:r>
                <a:rPr lang="en-US" sz="2000">
                  <a:solidFill>
                    <a:srgbClr val="404040"/>
                  </a:solidFill>
                  <a:latin typeface="Telegraf"/>
                  <a:ea typeface="Telegraf"/>
                  <a:cs typeface="Telegraf"/>
                  <a:sym typeface="Telegraf"/>
                </a:rPr>
                <a:t>Engage suppliers in discussions to secure </a:t>
              </a:r>
              <a:r>
                <a:rPr lang="en-US" sz="2000" b="1">
                  <a:solidFill>
                    <a:srgbClr val="404040"/>
                  </a:solidFill>
                  <a:latin typeface="Telegraf Bold"/>
                  <a:ea typeface="Telegraf Bold"/>
                  <a:cs typeface="Telegraf Bold"/>
                  <a:sym typeface="Telegraf Bold"/>
                </a:rPr>
                <a:t>better pricing</a:t>
              </a:r>
              <a:r>
                <a:rPr lang="en-US" sz="2000">
                  <a:solidFill>
                    <a:srgbClr val="404040"/>
                  </a:solidFill>
                  <a:latin typeface="Telegraf"/>
                  <a:ea typeface="Telegraf"/>
                  <a:cs typeface="Telegraf"/>
                  <a:sym typeface="Telegraf"/>
                </a:rPr>
                <a:t> options, potentially reducing costs. Building long-term relationships can lead to more favorable terms and increased negotiation leverage.</a:t>
              </a:r>
            </a:p>
          </p:txBody>
        </p:sp>
      </p:grpSp>
      <p:grpSp>
        <p:nvGrpSpPr>
          <p:cNvPr id="6" name="Group 6"/>
          <p:cNvGrpSpPr/>
          <p:nvPr/>
        </p:nvGrpSpPr>
        <p:grpSpPr>
          <a:xfrm>
            <a:off x="9296400" y="2903617"/>
            <a:ext cx="8324850" cy="1637972"/>
            <a:chOff x="0" y="0"/>
            <a:chExt cx="11099800" cy="2183963"/>
          </a:xfrm>
        </p:grpSpPr>
        <p:sp>
          <p:nvSpPr>
            <p:cNvPr id="7" name="TextBox 7"/>
            <p:cNvSpPr txBox="1"/>
            <p:nvPr/>
          </p:nvSpPr>
          <p:spPr>
            <a:xfrm>
              <a:off x="0" y="-19050"/>
              <a:ext cx="11099800" cy="628650"/>
            </a:xfrm>
            <a:prstGeom prst="rect">
              <a:avLst/>
            </a:prstGeom>
          </p:spPr>
          <p:txBody>
            <a:bodyPr lIns="0" tIns="0" rIns="0" bIns="0" rtlCol="0" anchor="t">
              <a:spAutoFit/>
            </a:bodyPr>
            <a:lstStyle/>
            <a:p>
              <a:pPr marL="0" lvl="0" indent="0" algn="l">
                <a:lnSpc>
                  <a:spcPts val="3300"/>
                </a:lnSpc>
              </a:pPr>
              <a:r>
                <a:rPr lang="en-US" sz="3000" b="1" spc="-30">
                  <a:solidFill>
                    <a:srgbClr val="6B4F3C"/>
                  </a:solidFill>
                  <a:latin typeface="Telegraf Bold"/>
                  <a:ea typeface="Telegraf Bold"/>
                  <a:cs typeface="Telegraf Bold"/>
                  <a:sym typeface="Telegraf Bold"/>
                </a:rPr>
                <a:t>Operational Efficiency</a:t>
              </a:r>
            </a:p>
          </p:txBody>
        </p:sp>
        <p:sp>
          <p:nvSpPr>
            <p:cNvPr id="8" name="TextBox 8"/>
            <p:cNvSpPr txBox="1"/>
            <p:nvPr/>
          </p:nvSpPr>
          <p:spPr>
            <a:xfrm>
              <a:off x="0" y="765796"/>
              <a:ext cx="11099800" cy="1418167"/>
            </a:xfrm>
            <a:prstGeom prst="rect">
              <a:avLst/>
            </a:prstGeom>
          </p:spPr>
          <p:txBody>
            <a:bodyPr lIns="0" tIns="0" rIns="0" bIns="0" rtlCol="0" anchor="t">
              <a:spAutoFit/>
            </a:bodyPr>
            <a:lstStyle/>
            <a:p>
              <a:pPr marL="0" lvl="0" indent="0" algn="l">
                <a:lnSpc>
                  <a:spcPts val="2800"/>
                </a:lnSpc>
              </a:pPr>
              <a:r>
                <a:rPr lang="en-US" sz="2000" spc="-20">
                  <a:solidFill>
                    <a:srgbClr val="404040"/>
                  </a:solidFill>
                  <a:latin typeface="Telegraf"/>
                  <a:ea typeface="Telegraf"/>
                  <a:cs typeface="Telegraf"/>
                  <a:sym typeface="Telegraf"/>
                </a:rPr>
                <a:t>Streamline internal processes to improve </a:t>
              </a:r>
              <a:r>
                <a:rPr lang="en-US" sz="2000" b="1" spc="-20">
                  <a:solidFill>
                    <a:srgbClr val="404040"/>
                  </a:solidFill>
                  <a:latin typeface="Telegraf Bold"/>
                  <a:ea typeface="Telegraf Bold"/>
                  <a:cs typeface="Telegraf Bold"/>
                  <a:sym typeface="Telegraf Bold"/>
                </a:rPr>
                <a:t>productivity</a:t>
              </a:r>
              <a:r>
                <a:rPr lang="en-US" sz="2000" spc="-20">
                  <a:solidFill>
                    <a:srgbClr val="404040"/>
                  </a:solidFill>
                  <a:latin typeface="Telegraf"/>
                  <a:ea typeface="Telegraf"/>
                  <a:cs typeface="Telegraf"/>
                  <a:sym typeface="Telegraf"/>
                </a:rPr>
                <a:t>. Implementing best practices and technology solutions can reduce waste and enhance service delivery, ultimately cutting operational costs.</a:t>
              </a:r>
            </a:p>
          </p:txBody>
        </p:sp>
      </p:grpSp>
      <p:grpSp>
        <p:nvGrpSpPr>
          <p:cNvPr id="9" name="Group 9"/>
          <p:cNvGrpSpPr/>
          <p:nvPr/>
        </p:nvGrpSpPr>
        <p:grpSpPr>
          <a:xfrm>
            <a:off x="9296400" y="5140484"/>
            <a:ext cx="8324850" cy="1637972"/>
            <a:chOff x="0" y="0"/>
            <a:chExt cx="11099800" cy="2183963"/>
          </a:xfrm>
        </p:grpSpPr>
        <p:sp>
          <p:nvSpPr>
            <p:cNvPr id="10" name="TextBox 10"/>
            <p:cNvSpPr txBox="1"/>
            <p:nvPr/>
          </p:nvSpPr>
          <p:spPr>
            <a:xfrm>
              <a:off x="0" y="-19050"/>
              <a:ext cx="11099800" cy="628650"/>
            </a:xfrm>
            <a:prstGeom prst="rect">
              <a:avLst/>
            </a:prstGeom>
          </p:spPr>
          <p:txBody>
            <a:bodyPr lIns="0" tIns="0" rIns="0" bIns="0" rtlCol="0" anchor="t">
              <a:spAutoFit/>
            </a:bodyPr>
            <a:lstStyle/>
            <a:p>
              <a:pPr marL="0" lvl="0" indent="0" algn="l">
                <a:lnSpc>
                  <a:spcPts val="3300"/>
                </a:lnSpc>
              </a:pPr>
              <a:r>
                <a:rPr lang="en-US" sz="3000" b="1" spc="-30">
                  <a:solidFill>
                    <a:srgbClr val="6B4F3C"/>
                  </a:solidFill>
                  <a:latin typeface="Telegraf Bold"/>
                  <a:ea typeface="Telegraf Bold"/>
                  <a:cs typeface="Telegraf Bold"/>
                  <a:sym typeface="Telegraf Bold"/>
                </a:rPr>
                <a:t>Inventory Management</a:t>
              </a:r>
            </a:p>
          </p:txBody>
        </p:sp>
        <p:sp>
          <p:nvSpPr>
            <p:cNvPr id="11" name="TextBox 11"/>
            <p:cNvSpPr txBox="1"/>
            <p:nvPr/>
          </p:nvSpPr>
          <p:spPr>
            <a:xfrm>
              <a:off x="0" y="765796"/>
              <a:ext cx="11099800" cy="1418167"/>
            </a:xfrm>
            <a:prstGeom prst="rect">
              <a:avLst/>
            </a:prstGeom>
          </p:spPr>
          <p:txBody>
            <a:bodyPr lIns="0" tIns="0" rIns="0" bIns="0" rtlCol="0" anchor="t">
              <a:spAutoFit/>
            </a:bodyPr>
            <a:lstStyle/>
            <a:p>
              <a:pPr marL="0" lvl="0" indent="0" algn="l">
                <a:lnSpc>
                  <a:spcPts val="2800"/>
                </a:lnSpc>
              </a:pPr>
              <a:r>
                <a:rPr lang="en-US" sz="2000" spc="-20">
                  <a:solidFill>
                    <a:srgbClr val="404040"/>
                  </a:solidFill>
                  <a:latin typeface="Telegraf"/>
                  <a:ea typeface="Telegraf"/>
                  <a:cs typeface="Telegraf"/>
                  <a:sym typeface="Telegraf"/>
                </a:rPr>
                <a:t>Optimize inventory levels to prevent overstocking and </a:t>
              </a:r>
              <a:r>
                <a:rPr lang="en-US" sz="2000" b="1" spc="-20">
                  <a:solidFill>
                    <a:srgbClr val="404040"/>
                  </a:solidFill>
                  <a:latin typeface="Telegraf Bold"/>
                  <a:ea typeface="Telegraf Bold"/>
                  <a:cs typeface="Telegraf Bold"/>
                  <a:sym typeface="Telegraf Bold"/>
                </a:rPr>
                <a:t>reduce spoilage</a:t>
              </a:r>
              <a:r>
                <a:rPr lang="en-US" sz="2000" spc="-20">
                  <a:solidFill>
                    <a:srgbClr val="404040"/>
                  </a:solidFill>
                  <a:latin typeface="Telegraf"/>
                  <a:ea typeface="Telegraf"/>
                  <a:cs typeface="Telegraf"/>
                  <a:sym typeface="Telegraf"/>
                </a:rPr>
                <a:t>. Adopting a just-in-time inventory approach helps align stock with demand, leading to lower holding costs.</a:t>
              </a:r>
            </a:p>
          </p:txBody>
        </p:sp>
      </p:grpSp>
      <p:grpSp>
        <p:nvGrpSpPr>
          <p:cNvPr id="12" name="Group 12"/>
          <p:cNvGrpSpPr/>
          <p:nvPr/>
        </p:nvGrpSpPr>
        <p:grpSpPr>
          <a:xfrm>
            <a:off x="9296400" y="7377351"/>
            <a:ext cx="8324850" cy="1637972"/>
            <a:chOff x="0" y="0"/>
            <a:chExt cx="11099800" cy="2183963"/>
          </a:xfrm>
        </p:grpSpPr>
        <p:sp>
          <p:nvSpPr>
            <p:cNvPr id="13" name="TextBox 13"/>
            <p:cNvSpPr txBox="1"/>
            <p:nvPr/>
          </p:nvSpPr>
          <p:spPr>
            <a:xfrm>
              <a:off x="0" y="-47625"/>
              <a:ext cx="11099800" cy="657225"/>
            </a:xfrm>
            <a:prstGeom prst="rect">
              <a:avLst/>
            </a:prstGeom>
          </p:spPr>
          <p:txBody>
            <a:bodyPr lIns="0" tIns="0" rIns="0" bIns="0" rtlCol="0" anchor="t">
              <a:spAutoFit/>
            </a:bodyPr>
            <a:lstStyle/>
            <a:p>
              <a:pPr marL="0" lvl="0" indent="0" algn="l">
                <a:lnSpc>
                  <a:spcPts val="3600"/>
                </a:lnSpc>
              </a:pPr>
              <a:r>
                <a:rPr lang="en-US" sz="3000" b="1" spc="-30">
                  <a:solidFill>
                    <a:srgbClr val="6B4F3C"/>
                  </a:solidFill>
                  <a:latin typeface="Telegraf Bold"/>
                  <a:ea typeface="Telegraf Bold"/>
                  <a:cs typeface="Telegraf Bold"/>
                  <a:sym typeface="Telegraf Bold"/>
                </a:rPr>
                <a:t>Staff Training</a:t>
              </a:r>
            </a:p>
          </p:txBody>
        </p:sp>
        <p:sp>
          <p:nvSpPr>
            <p:cNvPr id="14" name="TextBox 14"/>
            <p:cNvSpPr txBox="1"/>
            <p:nvPr/>
          </p:nvSpPr>
          <p:spPr>
            <a:xfrm>
              <a:off x="0" y="765796"/>
              <a:ext cx="11099800" cy="1418167"/>
            </a:xfrm>
            <a:prstGeom prst="rect">
              <a:avLst/>
            </a:prstGeom>
          </p:spPr>
          <p:txBody>
            <a:bodyPr lIns="0" tIns="0" rIns="0" bIns="0" rtlCol="0" anchor="t">
              <a:spAutoFit/>
            </a:bodyPr>
            <a:lstStyle/>
            <a:p>
              <a:pPr marL="0" lvl="0" indent="0" algn="l">
                <a:lnSpc>
                  <a:spcPts val="2800"/>
                </a:lnSpc>
              </a:pPr>
              <a:r>
                <a:rPr lang="en-US" sz="2000">
                  <a:solidFill>
                    <a:srgbClr val="404040"/>
                  </a:solidFill>
                  <a:latin typeface="Telegraf"/>
                  <a:ea typeface="Telegraf"/>
                  <a:cs typeface="Telegraf"/>
                  <a:sym typeface="Telegraf"/>
                </a:rPr>
                <a:t>Invest in staff training to enhance </a:t>
              </a:r>
              <a:r>
                <a:rPr lang="en-US" sz="2000" b="1">
                  <a:solidFill>
                    <a:srgbClr val="404040"/>
                  </a:solidFill>
                  <a:latin typeface="Telegraf Bold"/>
                  <a:ea typeface="Telegraf Bold"/>
                  <a:cs typeface="Telegraf Bold"/>
                  <a:sym typeface="Telegraf Bold"/>
                </a:rPr>
                <a:t>multiskilling</a:t>
              </a:r>
              <a:r>
                <a:rPr lang="en-US" sz="2000">
                  <a:solidFill>
                    <a:srgbClr val="404040"/>
                  </a:solidFill>
                  <a:latin typeface="Telegraf"/>
                  <a:ea typeface="Telegraf"/>
                  <a:cs typeface="Telegraf"/>
                  <a:sym typeface="Telegraf"/>
                </a:rPr>
                <a:t> and efficiency. A knowledgeable team can adapt to various roles, improving flexibility and reducing the need for additional hires.</a:t>
              </a:r>
            </a:p>
          </p:txBody>
        </p:sp>
      </p:grpSp>
      <p:sp>
        <p:nvSpPr>
          <p:cNvPr id="15" name="AutoShape 15"/>
          <p:cNvSpPr/>
          <p:nvPr/>
        </p:nvSpPr>
        <p:spPr>
          <a:xfrm>
            <a:off x="666750" y="9620250"/>
            <a:ext cx="16954500" cy="0"/>
          </a:xfrm>
          <a:prstGeom prst="line">
            <a:avLst/>
          </a:prstGeom>
          <a:ln w="9525" cap="flat">
            <a:solidFill>
              <a:srgbClr val="6B4F3C"/>
            </a:solidFill>
            <a:prstDash val="solid"/>
            <a:headEnd type="none" w="sm" len="sm"/>
            <a:tailEnd type="none" w="sm" len="sm"/>
          </a:ln>
        </p:spPr>
      </p:sp>
      <p:sp>
        <p:nvSpPr>
          <p:cNvPr id="16" name="TextBox 16"/>
          <p:cNvSpPr txBox="1"/>
          <p:nvPr/>
        </p:nvSpPr>
        <p:spPr>
          <a:xfrm>
            <a:off x="666750" y="9676455"/>
            <a:ext cx="2571750" cy="217170"/>
          </a:xfrm>
          <a:prstGeom prst="rect">
            <a:avLst/>
          </a:prstGeom>
        </p:spPr>
        <p:txBody>
          <a:bodyPr lIns="0" tIns="0" rIns="0" bIns="0" rtlCol="0" anchor="t">
            <a:spAutoFit/>
          </a:bodyPr>
          <a:lstStyle/>
          <a:p>
            <a:pPr marL="0" lvl="0" indent="0" algn="l">
              <a:lnSpc>
                <a:spcPts val="1679"/>
              </a:lnSpc>
              <a:spcBef>
                <a:spcPct val="0"/>
              </a:spcBef>
            </a:pPr>
            <a:r>
              <a:rPr lang="en-US" sz="1200" b="1" spc="-12">
                <a:solidFill>
                  <a:srgbClr val="404040"/>
                </a:solidFill>
                <a:latin typeface="Telegraf Bold"/>
                <a:ea typeface="Telegraf Bold"/>
                <a:cs typeface="Telegraf Bold"/>
                <a:sym typeface="Telegraf Bold"/>
              </a:rPr>
              <a:t>ADDITIONAL CONSIDERATIONS</a:t>
            </a:r>
          </a:p>
        </p:txBody>
      </p:sp>
      <p:sp>
        <p:nvSpPr>
          <p:cNvPr id="17" name="TextBox 17"/>
          <p:cNvSpPr txBox="1"/>
          <p:nvPr/>
        </p:nvSpPr>
        <p:spPr>
          <a:xfrm>
            <a:off x="17438665" y="9676442"/>
            <a:ext cx="152400" cy="190500"/>
          </a:xfrm>
          <a:prstGeom prst="rect">
            <a:avLst/>
          </a:prstGeom>
        </p:spPr>
        <p:txBody>
          <a:bodyPr wrap="none" lIns="0" tIns="0" rIns="0" bIns="0" rtlCol="0" anchor="t">
            <a:spAutoFit/>
          </a:bodyPr>
          <a:lstStyle/>
          <a:p>
            <a:pPr marL="0" lvl="0" indent="0" algn="r">
              <a:lnSpc>
                <a:spcPts val="1679"/>
              </a:lnSpc>
              <a:spcBef>
                <a:spcPct val="0"/>
              </a:spcBef>
            </a:pPr>
            <a:r>
              <a:rPr lang="en-US" sz="1200" b="1">
                <a:solidFill>
                  <a:srgbClr val="404040"/>
                </a:solidFill>
                <a:latin typeface="Telegraf Bold"/>
                <a:ea typeface="Telegraf Bold"/>
                <a:cs typeface="Telegraf Bold"/>
                <a:sym typeface="Telegraf Bold"/>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3F0"/>
        </a:solidFill>
        <a:effectLst/>
      </p:bgPr>
    </p:bg>
    <p:spTree>
      <p:nvGrpSpPr>
        <p:cNvPr id="1" name=""/>
        <p:cNvGrpSpPr/>
        <p:nvPr/>
      </p:nvGrpSpPr>
      <p:grpSpPr>
        <a:xfrm>
          <a:off x="0" y="0"/>
          <a:ext cx="0" cy="0"/>
          <a:chOff x="0" y="0"/>
          <a:chExt cx="0" cy="0"/>
        </a:xfrm>
      </p:grpSpPr>
      <p:grpSp>
        <p:nvGrpSpPr>
          <p:cNvPr id="2" name="Group 2"/>
          <p:cNvGrpSpPr/>
          <p:nvPr/>
        </p:nvGrpSpPr>
        <p:grpSpPr>
          <a:xfrm>
            <a:off x="15049500" y="0"/>
            <a:ext cx="3238500" cy="10287000"/>
            <a:chOff x="0" y="0"/>
            <a:chExt cx="852938" cy="2709333"/>
          </a:xfrm>
        </p:grpSpPr>
        <p:sp>
          <p:nvSpPr>
            <p:cNvPr id="3" name="Freeform 3"/>
            <p:cNvSpPr/>
            <p:nvPr/>
          </p:nvSpPr>
          <p:spPr>
            <a:xfrm>
              <a:off x="0" y="0"/>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B0885F"/>
            </a:solidFill>
          </p:spPr>
        </p:sp>
        <p:sp>
          <p:nvSpPr>
            <p:cNvPr id="4" name="TextBox 4"/>
            <p:cNvSpPr txBox="1"/>
            <p:nvPr/>
          </p:nvSpPr>
          <p:spPr>
            <a:xfrm>
              <a:off x="0" y="-76200"/>
              <a:ext cx="852938" cy="2785533"/>
            </a:xfrm>
            <a:prstGeom prst="rect">
              <a:avLst/>
            </a:prstGeom>
          </p:spPr>
          <p:txBody>
            <a:bodyPr lIns="50800" tIns="50800" rIns="50800" bIns="50800" rtlCol="0" anchor="ctr"/>
            <a:lstStyle/>
            <a:p>
              <a:pPr marL="0" lvl="0" indent="0" algn="ctr">
                <a:lnSpc>
                  <a:spcPts val="2800"/>
                </a:lnSpc>
              </a:pPr>
              <a:endParaRPr/>
            </a:p>
          </p:txBody>
        </p:sp>
      </p:grpSp>
      <p:sp>
        <p:nvSpPr>
          <p:cNvPr id="5" name="AutoShape 5"/>
          <p:cNvSpPr/>
          <p:nvPr/>
        </p:nvSpPr>
        <p:spPr>
          <a:xfrm>
            <a:off x="666750" y="9620250"/>
            <a:ext cx="16954500" cy="0"/>
          </a:xfrm>
          <a:prstGeom prst="line">
            <a:avLst/>
          </a:prstGeom>
          <a:ln w="9525" cap="flat">
            <a:solidFill>
              <a:srgbClr val="404040"/>
            </a:solidFill>
            <a:prstDash val="solid"/>
            <a:headEnd type="none" w="sm" len="sm"/>
            <a:tailEnd type="none" w="sm" len="sm"/>
          </a:ln>
        </p:spPr>
      </p:sp>
      <p:sp>
        <p:nvSpPr>
          <p:cNvPr id="6" name="TextBox 6"/>
          <p:cNvSpPr txBox="1"/>
          <p:nvPr/>
        </p:nvSpPr>
        <p:spPr>
          <a:xfrm>
            <a:off x="666750" y="9676455"/>
            <a:ext cx="2571750" cy="217170"/>
          </a:xfrm>
          <a:prstGeom prst="rect">
            <a:avLst/>
          </a:prstGeom>
        </p:spPr>
        <p:txBody>
          <a:bodyPr lIns="0" tIns="0" rIns="0" bIns="0" rtlCol="0" anchor="t">
            <a:spAutoFit/>
          </a:bodyPr>
          <a:lstStyle/>
          <a:p>
            <a:pPr marL="0" lvl="0" indent="0" algn="l">
              <a:lnSpc>
                <a:spcPts val="1679"/>
              </a:lnSpc>
              <a:spcBef>
                <a:spcPct val="0"/>
              </a:spcBef>
            </a:pPr>
            <a:r>
              <a:rPr lang="en-US" sz="1200" b="1" spc="-12">
                <a:solidFill>
                  <a:srgbClr val="404040"/>
                </a:solidFill>
                <a:latin typeface="Telegraf Bold"/>
                <a:ea typeface="Telegraf Bold"/>
                <a:cs typeface="Telegraf Bold"/>
                <a:sym typeface="Telegraf Bold"/>
              </a:rPr>
              <a:t>TAKEAWAYS AND ACTIONS</a:t>
            </a:r>
          </a:p>
        </p:txBody>
      </p:sp>
      <p:sp>
        <p:nvSpPr>
          <p:cNvPr id="7" name="TextBox 7"/>
          <p:cNvSpPr txBox="1"/>
          <p:nvPr/>
        </p:nvSpPr>
        <p:spPr>
          <a:xfrm>
            <a:off x="17441506" y="9676442"/>
            <a:ext cx="152400" cy="190500"/>
          </a:xfrm>
          <a:prstGeom prst="rect">
            <a:avLst/>
          </a:prstGeom>
        </p:spPr>
        <p:txBody>
          <a:bodyPr wrap="none" lIns="0" tIns="0" rIns="0" bIns="0" rtlCol="0" anchor="t">
            <a:spAutoFit/>
          </a:bodyPr>
          <a:lstStyle/>
          <a:p>
            <a:pPr marL="0" lvl="0" indent="0" algn="r">
              <a:lnSpc>
                <a:spcPts val="1679"/>
              </a:lnSpc>
              <a:spcBef>
                <a:spcPct val="0"/>
              </a:spcBef>
            </a:pPr>
            <a:r>
              <a:rPr lang="en-US" sz="1200" b="1">
                <a:solidFill>
                  <a:srgbClr val="404040"/>
                </a:solidFill>
                <a:latin typeface="Telegraf Bold"/>
                <a:ea typeface="Telegraf Bold"/>
                <a:cs typeface="Telegraf Bold"/>
                <a:sym typeface="Telegraf Bold"/>
              </a:rPr>
              <a:t>10</a:t>
            </a:r>
          </a:p>
        </p:txBody>
      </p:sp>
      <p:grpSp>
        <p:nvGrpSpPr>
          <p:cNvPr id="8" name="Group 8"/>
          <p:cNvGrpSpPr/>
          <p:nvPr/>
        </p:nvGrpSpPr>
        <p:grpSpPr>
          <a:xfrm>
            <a:off x="666750" y="666750"/>
            <a:ext cx="12639675" cy="1784350"/>
            <a:chOff x="0" y="0"/>
            <a:chExt cx="16852900" cy="2379134"/>
          </a:xfrm>
        </p:grpSpPr>
        <p:sp>
          <p:nvSpPr>
            <p:cNvPr id="9" name="TextBox 9"/>
            <p:cNvSpPr txBox="1"/>
            <p:nvPr/>
          </p:nvSpPr>
          <p:spPr>
            <a:xfrm>
              <a:off x="0" y="-19050"/>
              <a:ext cx="16852900" cy="1432984"/>
            </a:xfrm>
            <a:prstGeom prst="rect">
              <a:avLst/>
            </a:prstGeom>
          </p:spPr>
          <p:txBody>
            <a:bodyPr lIns="0" tIns="0" rIns="0" bIns="0" rtlCol="0" anchor="t">
              <a:spAutoFit/>
            </a:bodyPr>
            <a:lstStyle/>
            <a:p>
              <a:pPr marL="0" lvl="0" indent="0" algn="l">
                <a:lnSpc>
                  <a:spcPts val="7700"/>
                </a:lnSpc>
              </a:pPr>
              <a:r>
                <a:rPr lang="en-US" sz="7000" b="1" spc="-70">
                  <a:solidFill>
                    <a:srgbClr val="6B4F3C"/>
                  </a:solidFill>
                  <a:latin typeface="Telegraf Bold"/>
                  <a:ea typeface="Telegraf Bold"/>
                  <a:cs typeface="Telegraf Bold"/>
                  <a:sym typeface="Telegraf Bold"/>
                </a:rPr>
                <a:t>Conclusion and Next Steps</a:t>
              </a:r>
            </a:p>
          </p:txBody>
        </p:sp>
        <p:sp>
          <p:nvSpPr>
            <p:cNvPr id="10" name="TextBox 10"/>
            <p:cNvSpPr txBox="1"/>
            <p:nvPr/>
          </p:nvSpPr>
          <p:spPr>
            <a:xfrm>
              <a:off x="0" y="1750484"/>
              <a:ext cx="16852900" cy="628650"/>
            </a:xfrm>
            <a:prstGeom prst="rect">
              <a:avLst/>
            </a:prstGeom>
          </p:spPr>
          <p:txBody>
            <a:bodyPr lIns="0" tIns="0" rIns="0" bIns="0" rtlCol="0" anchor="t">
              <a:spAutoFit/>
            </a:bodyPr>
            <a:lstStyle/>
            <a:p>
              <a:pPr marL="0" lvl="0" indent="0" algn="l">
                <a:lnSpc>
                  <a:spcPts val="3300"/>
                </a:lnSpc>
              </a:pPr>
              <a:r>
                <a:rPr lang="en-US" sz="3000" b="1" spc="-30">
                  <a:solidFill>
                    <a:srgbClr val="6B4F3C"/>
                  </a:solidFill>
                  <a:latin typeface="Telegraf Bold"/>
                  <a:ea typeface="Telegraf Bold"/>
                  <a:cs typeface="Telegraf Bold"/>
                  <a:sym typeface="Telegraf Bold"/>
                </a:rPr>
                <a:t>Leveraging Insights for Business Growth</a:t>
              </a:r>
            </a:p>
          </p:txBody>
        </p:sp>
      </p:grpSp>
      <p:grpSp>
        <p:nvGrpSpPr>
          <p:cNvPr id="11" name="Group 11"/>
          <p:cNvGrpSpPr/>
          <p:nvPr/>
        </p:nvGrpSpPr>
        <p:grpSpPr>
          <a:xfrm>
            <a:off x="666750" y="3352800"/>
            <a:ext cx="8324850" cy="1901825"/>
            <a:chOff x="0" y="0"/>
            <a:chExt cx="11099800" cy="2535767"/>
          </a:xfrm>
        </p:grpSpPr>
        <p:sp>
          <p:nvSpPr>
            <p:cNvPr id="12" name="TextBox 12"/>
            <p:cNvSpPr txBox="1"/>
            <p:nvPr/>
          </p:nvSpPr>
          <p:spPr>
            <a:xfrm>
              <a:off x="0" y="-19050"/>
              <a:ext cx="11099800" cy="628650"/>
            </a:xfrm>
            <a:prstGeom prst="rect">
              <a:avLst/>
            </a:prstGeom>
          </p:spPr>
          <p:txBody>
            <a:bodyPr lIns="0" tIns="0" rIns="0" bIns="0" rtlCol="0" anchor="t">
              <a:spAutoFit/>
            </a:bodyPr>
            <a:lstStyle/>
            <a:p>
              <a:pPr marL="0" lvl="0" indent="0" algn="l">
                <a:lnSpc>
                  <a:spcPts val="3300"/>
                </a:lnSpc>
              </a:pPr>
              <a:r>
                <a:rPr lang="en-US" sz="3000" b="1" u="none" strike="noStrike" spc="-30">
                  <a:solidFill>
                    <a:srgbClr val="6B4F3C"/>
                  </a:solidFill>
                  <a:latin typeface="Telegraf Bold"/>
                  <a:ea typeface="Telegraf Bold"/>
                  <a:cs typeface="Telegraf Bold"/>
                  <a:sym typeface="Telegraf Bold"/>
                </a:rPr>
                <a:t>Actionable Strategies</a:t>
              </a:r>
            </a:p>
          </p:txBody>
        </p:sp>
        <p:sp>
          <p:nvSpPr>
            <p:cNvPr id="13" name="TextBox 13"/>
            <p:cNvSpPr txBox="1"/>
            <p:nvPr/>
          </p:nvSpPr>
          <p:spPr>
            <a:xfrm>
              <a:off x="0" y="1117600"/>
              <a:ext cx="11099800" cy="1418167"/>
            </a:xfrm>
            <a:prstGeom prst="rect">
              <a:avLst/>
            </a:prstGeom>
          </p:spPr>
          <p:txBody>
            <a:bodyPr lIns="0" tIns="0" rIns="0" bIns="0" rtlCol="0" anchor="t">
              <a:spAutoFit/>
            </a:bodyPr>
            <a:lstStyle/>
            <a:p>
              <a:pPr marL="0" lvl="0" indent="0" algn="l">
                <a:lnSpc>
                  <a:spcPts val="2800"/>
                </a:lnSpc>
              </a:pPr>
              <a:r>
                <a:rPr lang="en-US" sz="2000" u="none" strike="noStrike" spc="-20">
                  <a:solidFill>
                    <a:srgbClr val="404040"/>
                  </a:solidFill>
                  <a:latin typeface="Telegraf"/>
                  <a:ea typeface="Telegraf"/>
                  <a:cs typeface="Telegraf"/>
                  <a:sym typeface="Telegraf"/>
                </a:rPr>
                <a:t>To enhance growth, implement data-driven strategies, optimize product offerings, and target marketing efforts effectively. This approach will improve profitability and meet customer preferences consistently.</a:t>
              </a:r>
            </a:p>
          </p:txBody>
        </p:sp>
      </p:grpSp>
    </p:spTree>
  </p:cSld>
  <p:clrMapOvr>
    <a:masterClrMapping/>
  </p:clrMapOvr>
</p:sld>
</file>

<file path=ppt/theme/_rels/themeOverride1.xml.rels><?xml version="1.0" encoding="UTF-8" standalone="yes"?>
<Relationships xmlns="http://schemas.openxmlformats.org/package/2006/relationships"><Relationship Id="rId1" Type="http://schemas.openxmlformats.org/officeDocument/2006/relationships/image" Target="../media/image3.jpeg"/></Relationships>
</file>

<file path=ppt/theme/_rels/themeOverride2.xml.rels><?xml version="1.0" encoding="UTF-8" standalone="yes"?>
<Relationships xmlns="http://schemas.openxmlformats.org/package/2006/relationships"><Relationship Id="rId1" Type="http://schemas.openxmlformats.org/officeDocument/2006/relationships/image" Target="../media/image3.jpeg"/></Relationships>
</file>

<file path=ppt/theme/_rels/themeOverride3.xml.rels><?xml version="1.0" encoding="UTF-8" standalone="yes"?>
<Relationships xmlns="http://schemas.openxmlformats.org/package/2006/relationships"><Relationship Id="rId1" Type="http://schemas.openxmlformats.org/officeDocument/2006/relationships/image" Target="../media/image3.jpeg"/></Relationships>
</file>

<file path=ppt/theme/_rels/themeOverride4.xml.rels><?xml version="1.0" encoding="UTF-8" standalone="yes"?>
<Relationships xmlns="http://schemas.openxmlformats.org/package/2006/relationships"><Relationship Id="rId1" Type="http://schemas.openxmlformats.org/officeDocument/2006/relationships/image" Target="../media/image3.jpeg"/></Relationships>
</file>

<file path=ppt/theme/_rels/themeOverride5.xml.rels><?xml version="1.0" encoding="UTF-8" standalone="yes"?>
<Relationships xmlns="http://schemas.openxmlformats.org/package/2006/relationships"><Relationship Id="rId1" Type="http://schemas.openxmlformats.org/officeDocument/2006/relationships/image" Target="../media/image3.jpeg"/></Relationships>
</file>

<file path=ppt/theme/_rels/themeOverride6.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ffee">
    <a:dk1>
      <a:sysClr val="windowText" lastClr="000000"/>
    </a:dk1>
    <a:lt1>
      <a:sysClr val="window" lastClr="FFFFFF"/>
    </a:lt1>
    <a:dk2>
      <a:srgbClr val="4E3B30"/>
    </a:dk2>
    <a:lt2>
      <a:srgbClr val="F4EEDC"/>
    </a:lt2>
    <a:accent1>
      <a:srgbClr val="CC830E"/>
    </a:accent1>
    <a:accent2>
      <a:srgbClr val="B54C2D"/>
    </a:accent2>
    <a:accent3>
      <a:srgbClr val="99570C"/>
    </a:accent3>
    <a:accent4>
      <a:srgbClr val="C17529"/>
    </a:accent4>
    <a:accent5>
      <a:srgbClr val="A19574"/>
    </a:accent5>
    <a:accent6>
      <a:srgbClr val="A49518"/>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Override>
</file>

<file path=ppt/theme/themeOverride2.xml><?xml version="1.0" encoding="utf-8"?>
<a:themeOverride xmlns:a="http://schemas.openxmlformats.org/drawingml/2006/main">
  <a:clrScheme name="Coffee">
    <a:dk1>
      <a:sysClr val="windowText" lastClr="000000"/>
    </a:dk1>
    <a:lt1>
      <a:sysClr val="window" lastClr="FFFFFF"/>
    </a:lt1>
    <a:dk2>
      <a:srgbClr val="4E3B30"/>
    </a:dk2>
    <a:lt2>
      <a:srgbClr val="F4EEDC"/>
    </a:lt2>
    <a:accent1>
      <a:srgbClr val="CC830E"/>
    </a:accent1>
    <a:accent2>
      <a:srgbClr val="B54C2D"/>
    </a:accent2>
    <a:accent3>
      <a:srgbClr val="99570C"/>
    </a:accent3>
    <a:accent4>
      <a:srgbClr val="C17529"/>
    </a:accent4>
    <a:accent5>
      <a:srgbClr val="A19574"/>
    </a:accent5>
    <a:accent6>
      <a:srgbClr val="A49518"/>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Override>
</file>

<file path=ppt/theme/themeOverride3.xml><?xml version="1.0" encoding="utf-8"?>
<a:themeOverride xmlns:a="http://schemas.openxmlformats.org/drawingml/2006/main">
  <a:clrScheme name="Coffee">
    <a:dk1>
      <a:sysClr val="windowText" lastClr="000000"/>
    </a:dk1>
    <a:lt1>
      <a:sysClr val="window" lastClr="FFFFFF"/>
    </a:lt1>
    <a:dk2>
      <a:srgbClr val="4E3B30"/>
    </a:dk2>
    <a:lt2>
      <a:srgbClr val="F4EEDC"/>
    </a:lt2>
    <a:accent1>
      <a:srgbClr val="CC830E"/>
    </a:accent1>
    <a:accent2>
      <a:srgbClr val="B54C2D"/>
    </a:accent2>
    <a:accent3>
      <a:srgbClr val="99570C"/>
    </a:accent3>
    <a:accent4>
      <a:srgbClr val="C17529"/>
    </a:accent4>
    <a:accent5>
      <a:srgbClr val="A19574"/>
    </a:accent5>
    <a:accent6>
      <a:srgbClr val="A49518"/>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Override>
</file>

<file path=ppt/theme/themeOverride4.xml><?xml version="1.0" encoding="utf-8"?>
<a:themeOverride xmlns:a="http://schemas.openxmlformats.org/drawingml/2006/main">
  <a:clrScheme name="Coffee">
    <a:dk1>
      <a:sysClr val="windowText" lastClr="000000"/>
    </a:dk1>
    <a:lt1>
      <a:sysClr val="window" lastClr="FFFFFF"/>
    </a:lt1>
    <a:dk2>
      <a:srgbClr val="4E3B30"/>
    </a:dk2>
    <a:lt2>
      <a:srgbClr val="F4EEDC"/>
    </a:lt2>
    <a:accent1>
      <a:srgbClr val="CC830E"/>
    </a:accent1>
    <a:accent2>
      <a:srgbClr val="B54C2D"/>
    </a:accent2>
    <a:accent3>
      <a:srgbClr val="99570C"/>
    </a:accent3>
    <a:accent4>
      <a:srgbClr val="C17529"/>
    </a:accent4>
    <a:accent5>
      <a:srgbClr val="A19574"/>
    </a:accent5>
    <a:accent6>
      <a:srgbClr val="A49518"/>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Override>
</file>

<file path=ppt/theme/themeOverride5.xml><?xml version="1.0" encoding="utf-8"?>
<a:themeOverride xmlns:a="http://schemas.openxmlformats.org/drawingml/2006/main">
  <a:clrScheme name="Coffee">
    <a:dk1>
      <a:sysClr val="windowText" lastClr="000000"/>
    </a:dk1>
    <a:lt1>
      <a:sysClr val="window" lastClr="FFFFFF"/>
    </a:lt1>
    <a:dk2>
      <a:srgbClr val="4E3B30"/>
    </a:dk2>
    <a:lt2>
      <a:srgbClr val="F4EEDC"/>
    </a:lt2>
    <a:accent1>
      <a:srgbClr val="CC830E"/>
    </a:accent1>
    <a:accent2>
      <a:srgbClr val="B54C2D"/>
    </a:accent2>
    <a:accent3>
      <a:srgbClr val="99570C"/>
    </a:accent3>
    <a:accent4>
      <a:srgbClr val="C17529"/>
    </a:accent4>
    <a:accent5>
      <a:srgbClr val="A19574"/>
    </a:accent5>
    <a:accent6>
      <a:srgbClr val="A49518"/>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Override>
</file>

<file path=ppt/theme/themeOverride6.xml><?xml version="1.0" encoding="utf-8"?>
<a:themeOverride xmlns:a="http://schemas.openxmlformats.org/drawingml/2006/main">
  <a:clrScheme name="Coffee">
    <a:dk1>
      <a:sysClr val="windowText" lastClr="000000"/>
    </a:dk1>
    <a:lt1>
      <a:sysClr val="window" lastClr="FFFFFF"/>
    </a:lt1>
    <a:dk2>
      <a:srgbClr val="4E3B30"/>
    </a:dk2>
    <a:lt2>
      <a:srgbClr val="F4EEDC"/>
    </a:lt2>
    <a:accent1>
      <a:srgbClr val="CC830E"/>
    </a:accent1>
    <a:accent2>
      <a:srgbClr val="B54C2D"/>
    </a:accent2>
    <a:accent3>
      <a:srgbClr val="99570C"/>
    </a:accent3>
    <a:accent4>
      <a:srgbClr val="C17529"/>
    </a:accent4>
    <a:accent5>
      <a:srgbClr val="A19574"/>
    </a:accent5>
    <a:accent6>
      <a:srgbClr val="A49518"/>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Override>
</file>

<file path=docProps/app.xml><?xml version="1.0" encoding="utf-8"?>
<Properties xmlns="http://schemas.openxmlformats.org/officeDocument/2006/extended-properties" xmlns:vt="http://schemas.openxmlformats.org/officeDocument/2006/docPropsVTypes">
  <TotalTime>67</TotalTime>
  <Words>734</Words>
  <Application>Microsoft Office PowerPoint</Application>
  <PresentationFormat>Custom</PresentationFormat>
  <Paragraphs>81</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Telegraf</vt:lpstr>
      <vt:lpstr>Calibri</vt:lpstr>
      <vt:lpstr>Arial</vt:lpstr>
      <vt:lpstr>Telegraf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Business Performance Review</dc:title>
  <dc:creator>Admin</dc:creator>
  <dc:description>Presentation - Business Performance Review</dc:description>
  <cp:lastModifiedBy>Admin</cp:lastModifiedBy>
  <cp:revision>2</cp:revision>
  <dcterms:created xsi:type="dcterms:W3CDTF">2006-08-16T00:00:00Z</dcterms:created>
  <dcterms:modified xsi:type="dcterms:W3CDTF">2025-11-07T16:13:46Z</dcterms:modified>
  <dc:identifier>DAG3egVmuGs</dc:identifier>
</cp:coreProperties>
</file>